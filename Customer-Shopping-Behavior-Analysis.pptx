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F1F5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F1F5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F1F5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0151F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F1F5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0151F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3029" y="289024"/>
            <a:ext cx="4726254" cy="27959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0151F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3419" y="706487"/>
            <a:ext cx="7473315" cy="828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F1F5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6119" y="1815553"/>
            <a:ext cx="3903345" cy="2308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2412" y="1708251"/>
            <a:ext cx="336169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100"/>
              </a:spcBef>
            </a:pPr>
            <a:r>
              <a:rPr dirty="0"/>
              <a:t>Customer</a:t>
            </a:r>
            <a:r>
              <a:rPr dirty="0" spc="-80"/>
              <a:t> </a:t>
            </a:r>
            <a:r>
              <a:rPr dirty="0" spc="-10"/>
              <a:t>Shopping </a:t>
            </a:r>
            <a:r>
              <a:rPr dirty="0"/>
              <a:t>Behavior</a:t>
            </a:r>
            <a:r>
              <a:rPr dirty="0" spc="-35"/>
              <a:t> </a:t>
            </a:r>
            <a:r>
              <a:rPr dirty="0" spc="-10"/>
              <a:t>Analysis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912412" y="2846679"/>
            <a:ext cx="453326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100"/>
              </a:spcBef>
            </a:pP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Uncovering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spending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patterns,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customer</a:t>
            </a:r>
            <a:r>
              <a:rPr dirty="0" sz="110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segments,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product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preferences,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and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subscription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behavior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from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BECEF"/>
                </a:solidFill>
                <a:latin typeface="Arial"/>
                <a:cs typeface="Arial"/>
              </a:rPr>
              <a:t>3,900</a:t>
            </a:r>
            <a:r>
              <a:rPr dirty="0" sz="1100" spc="-2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BECEF"/>
                </a:solidFill>
                <a:latin typeface="Arial"/>
                <a:cs typeface="Arial"/>
              </a:rPr>
              <a:t>transactions</a:t>
            </a:r>
            <a:r>
              <a:rPr dirty="0" sz="1100" spc="-2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to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guide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strategic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business</a:t>
            </a:r>
            <a:r>
              <a:rPr dirty="0" sz="1100" spc="-4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decisions.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712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Dataset at a </a:t>
            </a:r>
            <a:r>
              <a:rPr dirty="0" spc="-10"/>
              <a:t>Glance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03166" y="1789823"/>
            <a:ext cx="1184910" cy="981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50" spc="-10" b="1">
                <a:solidFill>
                  <a:srgbClr val="EBECEF"/>
                </a:solidFill>
                <a:latin typeface="Arial"/>
                <a:cs typeface="Arial"/>
              </a:rPr>
              <a:t>3,900</a:t>
            </a:r>
            <a:endParaRPr sz="3650">
              <a:latin typeface="Arial"/>
              <a:cs typeface="Arial"/>
            </a:endParaRPr>
          </a:p>
          <a:p>
            <a:pPr marL="59055">
              <a:lnSpc>
                <a:spcPct val="100000"/>
              </a:lnSpc>
              <a:spcBef>
                <a:spcPts val="1520"/>
              </a:spcBef>
            </a:pPr>
            <a:r>
              <a:rPr dirty="0" sz="1350" spc="-10" b="1">
                <a:solidFill>
                  <a:srgbClr val="EBECEF"/>
                </a:solidFill>
                <a:latin typeface="Arial"/>
                <a:cs typeface="Arial"/>
              </a:rPr>
              <a:t>Transactions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02101" y="1789823"/>
            <a:ext cx="739775" cy="981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650" spc="-25" b="1">
                <a:solidFill>
                  <a:srgbClr val="EBECEF"/>
                </a:solidFill>
                <a:latin typeface="Arial"/>
                <a:cs typeface="Arial"/>
              </a:rPr>
              <a:t>18</a:t>
            </a:r>
            <a:endParaRPr sz="36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20"/>
              </a:spcBef>
            </a:pPr>
            <a:r>
              <a:rPr dirty="0" sz="1350" spc="-10" b="1">
                <a:solidFill>
                  <a:srgbClr val="EBECEF"/>
                </a:solidFill>
                <a:latin typeface="Arial"/>
                <a:cs typeface="Arial"/>
              </a:rPr>
              <a:t>Features</a:t>
            </a:r>
            <a:endParaRPr sz="13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678473" y="1789823"/>
            <a:ext cx="1339215" cy="981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3650" spc="-25" b="1">
                <a:solidFill>
                  <a:srgbClr val="EBECEF"/>
                </a:solidFill>
                <a:latin typeface="Arial"/>
                <a:cs typeface="Arial"/>
              </a:rPr>
              <a:t>37</a:t>
            </a:r>
            <a:endParaRPr sz="36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20"/>
              </a:spcBef>
            </a:pPr>
            <a:r>
              <a:rPr dirty="0" sz="1350" b="1">
                <a:solidFill>
                  <a:srgbClr val="EBECEF"/>
                </a:solidFill>
                <a:latin typeface="Arial"/>
                <a:cs typeface="Arial"/>
              </a:rPr>
              <a:t>Missing</a:t>
            </a:r>
            <a:r>
              <a:rPr dirty="0" sz="1350" spc="-5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EBECEF"/>
                </a:solidFill>
                <a:latin typeface="Arial"/>
                <a:cs typeface="Arial"/>
              </a:rPr>
              <a:t>Ratings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83417" y="2982277"/>
            <a:ext cx="5280025" cy="998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F1F5F9"/>
                </a:solidFill>
                <a:latin typeface="Arial"/>
                <a:cs typeface="Arial"/>
              </a:rPr>
              <a:t>Key</a:t>
            </a:r>
            <a:r>
              <a:rPr dirty="0" sz="1350" spc="-20" b="1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F1F5F9"/>
                </a:solidFill>
                <a:latin typeface="Arial"/>
                <a:cs typeface="Arial"/>
              </a:rPr>
              <a:t>Feature</a:t>
            </a:r>
            <a:r>
              <a:rPr dirty="0" sz="1350" spc="-20" b="1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F1F5F9"/>
                </a:solidFill>
                <a:latin typeface="Arial"/>
                <a:cs typeface="Arial"/>
              </a:rPr>
              <a:t>Groups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3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1100" spc="-10" b="1">
                <a:solidFill>
                  <a:srgbClr val="EBECEF"/>
                </a:solidFill>
                <a:latin typeface="Arial"/>
                <a:cs typeface="Arial"/>
              </a:rPr>
              <a:t>Demographics: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Age,</a:t>
            </a:r>
            <a:r>
              <a:rPr dirty="0" sz="1100" spc="-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Gender,</a:t>
            </a:r>
            <a:r>
              <a:rPr dirty="0" sz="1100" spc="-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Location,</a:t>
            </a:r>
            <a:r>
              <a:rPr dirty="0" sz="1100" spc="-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Subscription</a:t>
            </a:r>
            <a:r>
              <a:rPr dirty="0" sz="1100" spc="-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Status</a:t>
            </a:r>
            <a:endParaRPr sz="1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1100" spc="-10" b="1">
                <a:solidFill>
                  <a:srgbClr val="EBECEF"/>
                </a:solidFill>
                <a:latin typeface="Arial"/>
                <a:cs typeface="Arial"/>
              </a:rPr>
              <a:t>Purchase</a:t>
            </a:r>
            <a:r>
              <a:rPr dirty="0" sz="1100" spc="-2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BECEF"/>
                </a:solidFill>
                <a:latin typeface="Arial"/>
                <a:cs typeface="Arial"/>
              </a:rPr>
              <a:t>Details:</a:t>
            </a:r>
            <a:r>
              <a:rPr dirty="0" sz="1100" spc="-2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Item,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Category,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Amount,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Season,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Size,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Color</a:t>
            </a:r>
            <a:endParaRPr sz="1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1100" b="1">
                <a:solidFill>
                  <a:srgbClr val="EBECEF"/>
                </a:solidFill>
                <a:latin typeface="Arial"/>
                <a:cs typeface="Arial"/>
              </a:rPr>
              <a:t>Behavior:</a:t>
            </a:r>
            <a:r>
              <a:rPr dirty="0" sz="1100" spc="-5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Discounts,</a:t>
            </a:r>
            <a:r>
              <a:rPr dirty="0" sz="1100" spc="-4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Promo</a:t>
            </a:r>
            <a:r>
              <a:rPr dirty="0" sz="1100" spc="-5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Codes,</a:t>
            </a:r>
            <a:r>
              <a:rPr dirty="0" sz="1100" spc="-4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Frequency,</a:t>
            </a:r>
            <a:r>
              <a:rPr dirty="0" sz="1100" spc="-4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Review</a:t>
            </a:r>
            <a:r>
              <a:rPr dirty="0" sz="1100" spc="-5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Rating,</a:t>
            </a:r>
            <a:r>
              <a:rPr dirty="0" sz="1100" spc="-4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Shipping</a:t>
            </a:r>
            <a:r>
              <a:rPr dirty="0" sz="1100" spc="-4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Type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2689" y="425378"/>
            <a:ext cx="3854450" cy="3835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/>
              <a:t>Data</a:t>
            </a:r>
            <a:r>
              <a:rPr dirty="0" sz="2350" spc="-80"/>
              <a:t> </a:t>
            </a:r>
            <a:r>
              <a:rPr dirty="0" sz="2350"/>
              <a:t>Preparation</a:t>
            </a:r>
            <a:r>
              <a:rPr dirty="0" sz="2350" spc="-75"/>
              <a:t> </a:t>
            </a:r>
            <a:r>
              <a:rPr dirty="0" sz="2350"/>
              <a:t>in</a:t>
            </a:r>
            <a:r>
              <a:rPr dirty="0" sz="2350" spc="-75"/>
              <a:t> </a:t>
            </a:r>
            <a:r>
              <a:rPr dirty="0" sz="2350" spc="-10"/>
              <a:t>Python</a:t>
            </a:r>
            <a:endParaRPr sz="2350"/>
          </a:p>
        </p:txBody>
      </p:sp>
      <p:sp>
        <p:nvSpPr>
          <p:cNvPr id="4" name="object 4" descr=""/>
          <p:cNvSpPr txBox="1"/>
          <p:nvPr/>
        </p:nvSpPr>
        <p:spPr>
          <a:xfrm>
            <a:off x="3842689" y="953260"/>
            <a:ext cx="1096645" cy="503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EBECEF"/>
                </a:solidFill>
                <a:latin typeface="Arial"/>
                <a:cs typeface="Arial"/>
              </a:rPr>
              <a:t>01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b="1">
                <a:solidFill>
                  <a:srgbClr val="EBECEF"/>
                </a:solidFill>
                <a:latin typeface="Arial"/>
                <a:cs typeface="Arial"/>
              </a:rPr>
              <a:t>Load</a:t>
            </a:r>
            <a:r>
              <a:rPr dirty="0" sz="1150" spc="-1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EBECEF"/>
                </a:solidFill>
                <a:latin typeface="Arial"/>
                <a:cs typeface="Arial"/>
              </a:rPr>
              <a:t>&amp;</a:t>
            </a:r>
            <a:r>
              <a:rPr dirty="0" sz="1150" spc="-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EBECEF"/>
                </a:solidFill>
                <a:latin typeface="Arial"/>
                <a:cs typeface="Arial"/>
              </a:rPr>
              <a:t>Explore</a:t>
            </a:r>
            <a:endParaRPr sz="115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5042359" y="1510830"/>
            <a:ext cx="414020" cy="146050"/>
          </a:xfrm>
          <a:custGeom>
            <a:avLst/>
            <a:gdLst/>
            <a:ahLst/>
            <a:cxnLst/>
            <a:rect l="l" t="t" r="r" b="b"/>
            <a:pathLst>
              <a:path w="414020" h="146050">
                <a:moveTo>
                  <a:pt x="413661" y="0"/>
                </a:moveTo>
                <a:lnTo>
                  <a:pt x="0" y="0"/>
                </a:lnTo>
                <a:lnTo>
                  <a:pt x="0" y="146050"/>
                </a:lnTo>
                <a:lnTo>
                  <a:pt x="413661" y="146050"/>
                </a:lnTo>
                <a:lnTo>
                  <a:pt x="413661" y="0"/>
                </a:lnTo>
                <a:close/>
              </a:path>
            </a:pathLst>
          </a:custGeom>
          <a:solidFill>
            <a:srgbClr val="1D22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3842689" y="1493049"/>
            <a:ext cx="1955164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Imported</a:t>
            </a:r>
            <a:r>
              <a:rPr dirty="0" sz="95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dataset</a:t>
            </a:r>
            <a:r>
              <a:rPr dirty="0" sz="9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with</a:t>
            </a:r>
            <a:r>
              <a:rPr dirty="0" sz="9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EBECEF"/>
                </a:solidFill>
                <a:latin typeface="Lucida Sans"/>
                <a:cs typeface="Lucida Sans"/>
              </a:rPr>
              <a:t>pandas</a:t>
            </a:r>
            <a:r>
              <a:rPr dirty="0" sz="950" spc="-10">
                <a:solidFill>
                  <a:srgbClr val="EBECEF"/>
                </a:solidFill>
                <a:latin typeface="Arial"/>
                <a:cs typeface="Arial"/>
              </a:rPr>
              <a:t>;</a:t>
            </a:r>
            <a:r>
              <a:rPr dirty="0" sz="9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EBECEF"/>
                </a:solidFill>
                <a:latin typeface="Arial"/>
                <a:cs typeface="Arial"/>
              </a:rPr>
              <a:t>used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818200" y="1510830"/>
            <a:ext cx="436880" cy="146050"/>
          </a:xfrm>
          <a:prstGeom prst="rect">
            <a:avLst/>
          </a:prstGeom>
          <a:solidFill>
            <a:srgbClr val="1D222C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950" spc="-40">
                <a:solidFill>
                  <a:srgbClr val="EBECEF"/>
                </a:solidFill>
                <a:latin typeface="Lucida Sans"/>
                <a:cs typeface="Lucida Sans"/>
              </a:rPr>
              <a:t>df.info()</a:t>
            </a:r>
            <a:endParaRPr sz="950">
              <a:latin typeface="Lucida Sans"/>
              <a:cs typeface="Lucida San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275656" y="1493049"/>
            <a:ext cx="22669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EBECEF"/>
                </a:solidFill>
                <a:latin typeface="Arial"/>
                <a:cs typeface="Arial"/>
              </a:rPr>
              <a:t>and</a:t>
            </a:r>
            <a:endParaRPr sz="9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23164" y="1510830"/>
            <a:ext cx="581660" cy="146050"/>
          </a:xfrm>
          <a:prstGeom prst="rect">
            <a:avLst/>
          </a:prstGeom>
          <a:solidFill>
            <a:srgbClr val="1D222C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950" spc="-35">
                <a:solidFill>
                  <a:srgbClr val="EBECEF"/>
                </a:solidFill>
                <a:latin typeface="Lucida Sans"/>
                <a:cs typeface="Lucida Sans"/>
              </a:rPr>
              <a:t>.describe()</a:t>
            </a:r>
            <a:endParaRPr sz="950">
              <a:latin typeface="Lucida Sans"/>
              <a:cs typeface="Lucida San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125485" y="1493049"/>
            <a:ext cx="108394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for</a:t>
            </a:r>
            <a:r>
              <a:rPr dirty="0" sz="95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initial</a:t>
            </a:r>
            <a:r>
              <a:rPr dirty="0" sz="95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EBECEF"/>
                </a:solidFill>
                <a:latin typeface="Arial"/>
                <a:cs typeface="Arial"/>
              </a:rPr>
              <a:t>inspection.</a:t>
            </a:r>
            <a:endParaRPr sz="9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842689" y="1850250"/>
            <a:ext cx="4818380" cy="1543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EBECEF"/>
                </a:solidFill>
                <a:latin typeface="Arial"/>
                <a:cs typeface="Arial"/>
              </a:rPr>
              <a:t>02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b="1">
                <a:solidFill>
                  <a:srgbClr val="EBECEF"/>
                </a:solidFill>
                <a:latin typeface="Arial"/>
                <a:cs typeface="Arial"/>
              </a:rPr>
              <a:t>Clean</a:t>
            </a:r>
            <a:r>
              <a:rPr dirty="0" sz="1150" spc="-1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EBECEF"/>
                </a:solidFill>
                <a:latin typeface="Arial"/>
                <a:cs typeface="Arial"/>
              </a:rPr>
              <a:t>&amp;</a:t>
            </a:r>
            <a:r>
              <a:rPr dirty="0" sz="1150" spc="-10" b="1">
                <a:solidFill>
                  <a:srgbClr val="EBECEF"/>
                </a:solidFill>
                <a:latin typeface="Arial"/>
                <a:cs typeface="Arial"/>
              </a:rPr>
              <a:t> Standardize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Imputed</a:t>
            </a:r>
            <a:r>
              <a:rPr dirty="0" sz="95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missing</a:t>
            </a:r>
            <a:r>
              <a:rPr dirty="0" sz="95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Review</a:t>
            </a:r>
            <a:r>
              <a:rPr dirty="0" sz="95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Ratings</a:t>
            </a:r>
            <a:r>
              <a:rPr dirty="0" sz="95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with</a:t>
            </a:r>
            <a:r>
              <a:rPr dirty="0" sz="95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category</a:t>
            </a:r>
            <a:r>
              <a:rPr dirty="0" sz="95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median;</a:t>
            </a:r>
            <a:r>
              <a:rPr dirty="0" sz="95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renamed</a:t>
            </a:r>
            <a:r>
              <a:rPr dirty="0" sz="95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columns</a:t>
            </a:r>
            <a:r>
              <a:rPr dirty="0" sz="95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to</a:t>
            </a:r>
            <a:r>
              <a:rPr dirty="0" sz="95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EBECEF"/>
                </a:solidFill>
                <a:latin typeface="Arial"/>
                <a:cs typeface="Arial"/>
              </a:rPr>
              <a:t>snake_case.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50" spc="-25">
                <a:solidFill>
                  <a:srgbClr val="EBECEF"/>
                </a:solidFill>
                <a:latin typeface="Arial"/>
                <a:cs typeface="Arial"/>
              </a:rPr>
              <a:t>03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solidFill>
                  <a:srgbClr val="EBECEF"/>
                </a:solidFill>
                <a:latin typeface="Arial"/>
                <a:cs typeface="Arial"/>
              </a:rPr>
              <a:t>Feature</a:t>
            </a:r>
            <a:r>
              <a:rPr dirty="0" sz="1150" spc="-3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EBECEF"/>
                </a:solidFill>
                <a:latin typeface="Arial"/>
                <a:cs typeface="Arial"/>
              </a:rPr>
              <a:t>Engineering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5432462" y="3447237"/>
            <a:ext cx="1454785" cy="146050"/>
          </a:xfrm>
          <a:custGeom>
            <a:avLst/>
            <a:gdLst/>
            <a:ahLst/>
            <a:cxnLst/>
            <a:rect l="l" t="t" r="r" b="b"/>
            <a:pathLst>
              <a:path w="1454784" h="146050">
                <a:moveTo>
                  <a:pt x="1454365" y="0"/>
                </a:moveTo>
                <a:lnTo>
                  <a:pt x="0" y="0"/>
                </a:lnTo>
                <a:lnTo>
                  <a:pt x="0" y="146050"/>
                </a:lnTo>
                <a:lnTo>
                  <a:pt x="1454365" y="146050"/>
                </a:lnTo>
                <a:lnTo>
                  <a:pt x="1454365" y="0"/>
                </a:lnTo>
                <a:close/>
              </a:path>
            </a:pathLst>
          </a:custGeom>
          <a:solidFill>
            <a:srgbClr val="1D22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3842689" y="3429457"/>
            <a:ext cx="454659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EBECEF"/>
                </a:solidFill>
                <a:latin typeface="Arial"/>
                <a:cs typeface="Arial"/>
              </a:rPr>
              <a:t>Created</a:t>
            </a:r>
            <a:endParaRPr sz="9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318124" y="3447237"/>
            <a:ext cx="610235" cy="146050"/>
          </a:xfrm>
          <a:prstGeom prst="rect">
            <a:avLst/>
          </a:prstGeom>
          <a:solidFill>
            <a:srgbClr val="1D222C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950" spc="-30">
                <a:solidFill>
                  <a:srgbClr val="EBECEF"/>
                </a:solidFill>
                <a:latin typeface="Lucida Sans"/>
                <a:cs typeface="Lucida Sans"/>
              </a:rPr>
              <a:t>age_group</a:t>
            </a:r>
            <a:endParaRPr sz="950">
              <a:latin typeface="Lucida Sans"/>
              <a:cs typeface="Lucida San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930106" y="3429457"/>
            <a:ext cx="305562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bins</a:t>
            </a:r>
            <a:r>
              <a:rPr dirty="0" sz="950" spc="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and</a:t>
            </a:r>
            <a:r>
              <a:rPr dirty="0" sz="950" spc="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EBECEF"/>
                </a:solidFill>
                <a:latin typeface="Lucida Sans"/>
                <a:cs typeface="Lucida Sans"/>
              </a:rPr>
              <a:t>purchase_frequency_days</a:t>
            </a:r>
            <a:r>
              <a:rPr dirty="0" sz="950" spc="-20">
                <a:solidFill>
                  <a:srgbClr val="EBECEF"/>
                </a:solidFill>
                <a:latin typeface="Arial"/>
                <a:cs typeface="Arial"/>
              </a:rPr>
              <a:t>;</a:t>
            </a:r>
            <a:r>
              <a:rPr dirty="0" sz="950" spc="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dropped</a:t>
            </a:r>
            <a:r>
              <a:rPr dirty="0" sz="950" spc="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EBECEF"/>
                </a:solidFill>
                <a:latin typeface="Arial"/>
                <a:cs typeface="Arial"/>
              </a:rPr>
              <a:t>redundant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855389" y="3593287"/>
            <a:ext cx="1035050" cy="146050"/>
          </a:xfrm>
          <a:prstGeom prst="rect">
            <a:avLst/>
          </a:prstGeom>
          <a:solidFill>
            <a:srgbClr val="1D222C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950" spc="-20">
                <a:solidFill>
                  <a:srgbClr val="EBECEF"/>
                </a:solidFill>
                <a:latin typeface="Lucida Sans"/>
                <a:cs typeface="Lucida Sans"/>
              </a:rPr>
              <a:t>promo_code_used</a:t>
            </a:r>
            <a:endParaRPr sz="950">
              <a:latin typeface="Lucida Sans"/>
              <a:cs typeface="Lucida San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877149" y="3575507"/>
            <a:ext cx="5905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50">
                <a:solidFill>
                  <a:srgbClr val="EBECEF"/>
                </a:solidFill>
                <a:latin typeface="Arial"/>
                <a:cs typeface="Arial"/>
              </a:rPr>
              <a:t>.</a:t>
            </a:r>
            <a:endParaRPr sz="9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842689" y="3938600"/>
            <a:ext cx="4718685" cy="714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EBECEF"/>
                </a:solidFill>
                <a:latin typeface="Arial"/>
                <a:cs typeface="Arial"/>
              </a:rPr>
              <a:t>04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b="1">
                <a:solidFill>
                  <a:srgbClr val="EBECEF"/>
                </a:solidFill>
                <a:latin typeface="Arial"/>
                <a:cs typeface="Arial"/>
              </a:rPr>
              <a:t>Database</a:t>
            </a:r>
            <a:r>
              <a:rPr dirty="0" sz="1150" spc="-3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50" spc="-20" b="1">
                <a:solidFill>
                  <a:srgbClr val="EBECEF"/>
                </a:solidFill>
                <a:latin typeface="Arial"/>
                <a:cs typeface="Arial"/>
              </a:rPr>
              <a:t>Load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Connected</a:t>
            </a:r>
            <a:r>
              <a:rPr dirty="0" sz="9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Python</a:t>
            </a:r>
            <a:r>
              <a:rPr dirty="0" sz="95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to</a:t>
            </a:r>
            <a:r>
              <a:rPr dirty="0" sz="9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PostgreSQL</a:t>
            </a:r>
            <a:r>
              <a:rPr dirty="0" sz="95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and</a:t>
            </a:r>
            <a:r>
              <a:rPr dirty="0" sz="95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loaded</a:t>
            </a:r>
            <a:r>
              <a:rPr dirty="0" sz="9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the</a:t>
            </a:r>
            <a:r>
              <a:rPr dirty="0" sz="95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cleaned</a:t>
            </a:r>
            <a:r>
              <a:rPr dirty="0" sz="95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DataFrame</a:t>
            </a:r>
            <a:r>
              <a:rPr dirty="0" sz="9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for</a:t>
            </a:r>
            <a:r>
              <a:rPr dirty="0" sz="95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BECEF"/>
                </a:solidFill>
                <a:latin typeface="Arial"/>
                <a:cs typeface="Arial"/>
              </a:rPr>
              <a:t>SQL</a:t>
            </a:r>
            <a:r>
              <a:rPr dirty="0" sz="95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EBECEF"/>
                </a:solidFill>
                <a:latin typeface="Arial"/>
                <a:cs typeface="Arial"/>
              </a:rPr>
              <a:t>analysis.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700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Revenue</a:t>
            </a:r>
            <a:r>
              <a:rPr dirty="0" spc="-25"/>
              <a:t> </a:t>
            </a:r>
            <a:r>
              <a:rPr dirty="0"/>
              <a:t>&amp;</a:t>
            </a:r>
            <a:r>
              <a:rPr dirty="0" spc="-20"/>
              <a:t> </a:t>
            </a:r>
            <a:r>
              <a:rPr dirty="0"/>
              <a:t>Spending</a:t>
            </a:r>
            <a:r>
              <a:rPr dirty="0" spc="-20"/>
              <a:t> </a:t>
            </a:r>
            <a:r>
              <a:rPr dirty="0" spc="-10"/>
              <a:t>Insights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119" y="1815553"/>
            <a:ext cx="3902938" cy="2308402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60"/>
              </a:spcBef>
            </a:pPr>
          </a:p>
          <a:p>
            <a:pPr algn="r" marR="128905">
              <a:lnSpc>
                <a:spcPct val="100000"/>
              </a:lnSpc>
              <a:spcBef>
                <a:spcPts val="5"/>
              </a:spcBef>
            </a:pPr>
            <a:r>
              <a:rPr dirty="0" spc="-20"/>
              <a:t>158k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5"/>
              </a:spcBef>
            </a:pPr>
          </a:p>
          <a:p>
            <a:pPr algn="ctr" marR="187325">
              <a:lnSpc>
                <a:spcPct val="100000"/>
              </a:lnSpc>
            </a:pPr>
            <a:r>
              <a:rPr dirty="0" spc="-10">
                <a:solidFill>
                  <a:srgbClr val="000000"/>
                </a:solidFill>
              </a:rPr>
              <a:t>75.2k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4736998" y="1804377"/>
            <a:ext cx="110236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F1F5F9"/>
                </a:solidFill>
                <a:latin typeface="Arial"/>
                <a:cs typeface="Arial"/>
              </a:rPr>
              <a:t>Key</a:t>
            </a:r>
            <a:r>
              <a:rPr dirty="0" sz="1350" spc="-10" b="1">
                <a:solidFill>
                  <a:srgbClr val="F1F5F9"/>
                </a:solidFill>
                <a:latin typeface="Arial"/>
                <a:cs typeface="Arial"/>
              </a:rPr>
              <a:t> Findings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736997" y="2907360"/>
            <a:ext cx="749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EBECE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736997" y="2154250"/>
            <a:ext cx="3885565" cy="113030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1100" b="1">
                <a:solidFill>
                  <a:srgbClr val="EBECEF"/>
                </a:solidFill>
                <a:latin typeface="Arial"/>
                <a:cs typeface="Arial"/>
              </a:rPr>
              <a:t>Male</a:t>
            </a:r>
            <a:r>
              <a:rPr dirty="0" sz="1100" spc="-3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BECEF"/>
                </a:solidFill>
                <a:latin typeface="Arial"/>
                <a:cs typeface="Arial"/>
              </a:rPr>
              <a:t>customers</a:t>
            </a:r>
            <a:r>
              <a:rPr dirty="0" sz="1100" spc="-2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generated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$157,890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vs.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BECEF"/>
                </a:solidFill>
                <a:latin typeface="Arial"/>
                <a:cs typeface="Arial"/>
              </a:rPr>
              <a:t>Female</a:t>
            </a:r>
            <a:r>
              <a:rPr dirty="0" sz="1100" spc="-2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at</a:t>
            </a:r>
            <a:endParaRPr sz="11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$75,191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in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total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revenue.</a:t>
            </a:r>
            <a:endParaRPr sz="1100">
              <a:latin typeface="Arial"/>
              <a:cs typeface="Arial"/>
            </a:endParaRPr>
          </a:p>
          <a:p>
            <a:pPr marL="355600" marR="5080" indent="-342900">
              <a:lnSpc>
                <a:spcPct val="1098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1100" b="1">
                <a:solidFill>
                  <a:srgbClr val="EBECEF"/>
                </a:solidFill>
                <a:latin typeface="Arial"/>
                <a:cs typeface="Arial"/>
              </a:rPr>
              <a:t>Express</a:t>
            </a:r>
            <a:r>
              <a:rPr dirty="0" sz="1100" spc="-2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EBECEF"/>
                </a:solidFill>
                <a:latin typeface="Arial"/>
                <a:cs typeface="Arial"/>
              </a:rPr>
              <a:t>shipping</a:t>
            </a:r>
            <a:r>
              <a:rPr dirty="0" sz="1100" spc="-1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users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averaged</a:t>
            </a:r>
            <a:r>
              <a:rPr dirty="0" sz="110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$60.48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vs.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$58.46</a:t>
            </a:r>
            <a:r>
              <a:rPr dirty="0" sz="110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for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Standard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—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a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small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but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notable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premium.</a:t>
            </a:r>
            <a:endParaRPr sz="1100">
              <a:latin typeface="Arial"/>
              <a:cs typeface="Arial"/>
            </a:endParaRPr>
          </a:p>
          <a:p>
            <a:pPr marL="355600" marR="74930">
              <a:lnSpc>
                <a:spcPct val="109800"/>
              </a:lnSpc>
            </a:pPr>
            <a:r>
              <a:rPr dirty="0" sz="1100" b="1">
                <a:solidFill>
                  <a:srgbClr val="EBECEF"/>
                </a:solidFill>
                <a:latin typeface="Arial"/>
                <a:cs typeface="Arial"/>
              </a:rPr>
              <a:t>839</a:t>
            </a:r>
            <a:r>
              <a:rPr dirty="0" sz="1100" spc="-3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BECEF"/>
                </a:solidFill>
                <a:latin typeface="Arial"/>
                <a:cs typeface="Arial"/>
              </a:rPr>
              <a:t>customers</a:t>
            </a:r>
            <a:r>
              <a:rPr dirty="0" sz="1100" spc="-3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used</a:t>
            </a:r>
            <a:r>
              <a:rPr dirty="0" sz="1100" spc="-3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discounts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yet</a:t>
            </a:r>
            <a:r>
              <a:rPr dirty="0" sz="1100" spc="-3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still</a:t>
            </a:r>
            <a:r>
              <a:rPr dirty="0" sz="1100" spc="-3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spent</a:t>
            </a:r>
            <a:r>
              <a:rPr dirty="0" sz="1100" spc="-3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above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the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average</a:t>
            </a:r>
            <a:r>
              <a:rPr dirty="0" sz="1100" spc="-3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purchase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amount.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549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Top-</a:t>
            </a:r>
            <a:r>
              <a:rPr dirty="0"/>
              <a:t>Rated</a:t>
            </a:r>
            <a:r>
              <a:rPr dirty="0" spc="-15"/>
              <a:t> </a:t>
            </a:r>
            <a:r>
              <a:rPr dirty="0"/>
              <a:t>Products</a:t>
            </a:r>
            <a:r>
              <a:rPr dirty="0" spc="-15"/>
              <a:t> </a:t>
            </a:r>
            <a:r>
              <a:rPr dirty="0"/>
              <a:t>&amp;</a:t>
            </a:r>
            <a:r>
              <a:rPr dirty="0" spc="-10"/>
              <a:t> </a:t>
            </a:r>
            <a:r>
              <a:rPr dirty="0"/>
              <a:t>Discount</a:t>
            </a:r>
            <a:r>
              <a:rPr dirty="0" spc="-15"/>
              <a:t> </a:t>
            </a:r>
            <a:r>
              <a:rPr dirty="0" spc="-10"/>
              <a:t>Dependency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419" y="1602854"/>
            <a:ext cx="252031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F1F5F9"/>
                </a:solidFill>
                <a:latin typeface="Arial"/>
                <a:cs typeface="Arial"/>
              </a:rPr>
              <a:t>Top</a:t>
            </a:r>
            <a:r>
              <a:rPr dirty="0" sz="1350" spc="-15" b="1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F1F5F9"/>
                </a:solidFill>
                <a:latin typeface="Arial"/>
                <a:cs typeface="Arial"/>
              </a:rPr>
              <a:t>5</a:t>
            </a:r>
            <a:r>
              <a:rPr dirty="0" sz="1350" spc="-15" b="1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F1F5F9"/>
                </a:solidFill>
                <a:latin typeface="Arial"/>
                <a:cs typeface="Arial"/>
              </a:rPr>
              <a:t>Products</a:t>
            </a:r>
            <a:r>
              <a:rPr dirty="0" sz="1350" spc="-15" b="1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F1F5F9"/>
                </a:solidFill>
                <a:latin typeface="Arial"/>
                <a:cs typeface="Arial"/>
              </a:rPr>
              <a:t>by</a:t>
            </a:r>
            <a:r>
              <a:rPr dirty="0" sz="1350" spc="-15" b="1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F1F5F9"/>
                </a:solidFill>
                <a:latin typeface="Arial"/>
                <a:cs typeface="Arial"/>
              </a:rPr>
              <a:t>Avg.</a:t>
            </a:r>
            <a:r>
              <a:rPr dirty="0" sz="1350" spc="-15" b="1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F1F5F9"/>
                </a:solidFill>
                <a:latin typeface="Arial"/>
                <a:cs typeface="Arial"/>
              </a:rPr>
              <a:t>Rating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96119" y="1986114"/>
            <a:ext cx="3903345" cy="2216785"/>
          </a:xfrm>
          <a:custGeom>
            <a:avLst/>
            <a:gdLst/>
            <a:ahLst/>
            <a:cxnLst/>
            <a:rect l="l" t="t" r="r" b="b"/>
            <a:pathLst>
              <a:path w="3903345" h="2216785">
                <a:moveTo>
                  <a:pt x="0" y="59537"/>
                </a:moveTo>
                <a:lnTo>
                  <a:pt x="4709" y="36454"/>
                </a:lnTo>
                <a:lnTo>
                  <a:pt x="17521" y="17519"/>
                </a:lnTo>
                <a:lnTo>
                  <a:pt x="36456" y="4709"/>
                </a:lnTo>
                <a:lnTo>
                  <a:pt x="59538" y="0"/>
                </a:lnTo>
                <a:lnTo>
                  <a:pt x="3843401" y="0"/>
                </a:lnTo>
                <a:lnTo>
                  <a:pt x="3866484" y="4709"/>
                </a:lnTo>
                <a:lnTo>
                  <a:pt x="3885418" y="17519"/>
                </a:lnTo>
                <a:lnTo>
                  <a:pt x="3898229" y="36454"/>
                </a:lnTo>
                <a:lnTo>
                  <a:pt x="3902938" y="59537"/>
                </a:lnTo>
                <a:lnTo>
                  <a:pt x="3902938" y="2157107"/>
                </a:lnTo>
                <a:lnTo>
                  <a:pt x="3898229" y="2180190"/>
                </a:lnTo>
                <a:lnTo>
                  <a:pt x="3885418" y="2199125"/>
                </a:lnTo>
                <a:lnTo>
                  <a:pt x="3866484" y="2211935"/>
                </a:lnTo>
                <a:lnTo>
                  <a:pt x="3843401" y="2216645"/>
                </a:lnTo>
                <a:lnTo>
                  <a:pt x="59538" y="2216645"/>
                </a:lnTo>
                <a:lnTo>
                  <a:pt x="36456" y="2211935"/>
                </a:lnTo>
                <a:lnTo>
                  <a:pt x="17521" y="2199125"/>
                </a:lnTo>
                <a:lnTo>
                  <a:pt x="4709" y="2180190"/>
                </a:lnTo>
                <a:lnTo>
                  <a:pt x="0" y="2157107"/>
                </a:lnTo>
                <a:lnTo>
                  <a:pt x="0" y="59537"/>
                </a:lnTo>
                <a:close/>
              </a:path>
            </a:pathLst>
          </a:custGeom>
          <a:ln w="476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736998" y="1602854"/>
            <a:ext cx="293878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F1F5F9"/>
                </a:solidFill>
                <a:latin typeface="Arial"/>
                <a:cs typeface="Arial"/>
              </a:rPr>
              <a:t>Most</a:t>
            </a:r>
            <a:r>
              <a:rPr dirty="0" sz="1350" spc="-25" b="1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F1F5F9"/>
                </a:solidFill>
                <a:latin typeface="Arial"/>
                <a:cs typeface="Arial"/>
              </a:rPr>
              <a:t>Discount-</a:t>
            </a:r>
            <a:r>
              <a:rPr dirty="0" sz="1350" b="1">
                <a:solidFill>
                  <a:srgbClr val="F1F5F9"/>
                </a:solidFill>
                <a:latin typeface="Arial"/>
                <a:cs typeface="Arial"/>
              </a:rPr>
              <a:t>Dependent</a:t>
            </a:r>
            <a:r>
              <a:rPr dirty="0" sz="1350" spc="-20" b="1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F1F5F9"/>
                </a:solidFill>
                <a:latin typeface="Arial"/>
                <a:cs typeface="Arial"/>
              </a:rPr>
              <a:t>Products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4749698" y="1986114"/>
            <a:ext cx="3903345" cy="2216785"/>
          </a:xfrm>
          <a:custGeom>
            <a:avLst/>
            <a:gdLst/>
            <a:ahLst/>
            <a:cxnLst/>
            <a:rect l="l" t="t" r="r" b="b"/>
            <a:pathLst>
              <a:path w="3903345" h="2216785">
                <a:moveTo>
                  <a:pt x="0" y="59537"/>
                </a:moveTo>
                <a:lnTo>
                  <a:pt x="4709" y="36454"/>
                </a:lnTo>
                <a:lnTo>
                  <a:pt x="17521" y="17519"/>
                </a:lnTo>
                <a:lnTo>
                  <a:pt x="36456" y="4709"/>
                </a:lnTo>
                <a:lnTo>
                  <a:pt x="59538" y="0"/>
                </a:lnTo>
                <a:lnTo>
                  <a:pt x="3843401" y="0"/>
                </a:lnTo>
                <a:lnTo>
                  <a:pt x="3866484" y="4709"/>
                </a:lnTo>
                <a:lnTo>
                  <a:pt x="3885418" y="17519"/>
                </a:lnTo>
                <a:lnTo>
                  <a:pt x="3898229" y="36454"/>
                </a:lnTo>
                <a:lnTo>
                  <a:pt x="3902938" y="59537"/>
                </a:lnTo>
                <a:lnTo>
                  <a:pt x="3902938" y="2157107"/>
                </a:lnTo>
                <a:lnTo>
                  <a:pt x="3898229" y="2180190"/>
                </a:lnTo>
                <a:lnTo>
                  <a:pt x="3885418" y="2199125"/>
                </a:lnTo>
                <a:lnTo>
                  <a:pt x="3866484" y="2211935"/>
                </a:lnTo>
                <a:lnTo>
                  <a:pt x="3843401" y="2216645"/>
                </a:lnTo>
                <a:lnTo>
                  <a:pt x="59538" y="2216645"/>
                </a:lnTo>
                <a:lnTo>
                  <a:pt x="36456" y="2211935"/>
                </a:lnTo>
                <a:lnTo>
                  <a:pt x="17521" y="2199125"/>
                </a:lnTo>
                <a:lnTo>
                  <a:pt x="4709" y="2180190"/>
                </a:lnTo>
                <a:lnTo>
                  <a:pt x="0" y="2157107"/>
                </a:lnTo>
                <a:lnTo>
                  <a:pt x="0" y="59537"/>
                </a:lnTo>
                <a:close/>
              </a:path>
            </a:pathLst>
          </a:custGeom>
          <a:ln w="476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610963" y="1986114"/>
          <a:ext cx="7279640" cy="22148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8730"/>
                <a:gridCol w="2519045"/>
                <a:gridCol w="350520"/>
                <a:gridCol w="1414779"/>
                <a:gridCol w="1649095"/>
              </a:tblGrid>
              <a:tr h="3835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1100" spc="-10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Product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7950">
                    <a:lnT w="952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0929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1100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Avg.</a:t>
                      </a:r>
                      <a:r>
                        <a:rPr dirty="0" sz="1100" spc="-40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Rating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7950">
                    <a:lnR w="63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1100" spc="-10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Product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7950">
                    <a:lnL w="635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7818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1100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Discount</a:t>
                      </a:r>
                      <a:r>
                        <a:rPr dirty="0" sz="1100" spc="-50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Rate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7950"/>
                </a:tc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Gloves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/>
                </a:tc>
                <a:tc>
                  <a:txBody>
                    <a:bodyPr/>
                    <a:lstStyle/>
                    <a:p>
                      <a:pPr marL="70929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2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3.86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25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Hat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>
                    <a:lnL w="635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7818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50.00%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/>
                </a:tc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Sandals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/>
                </a:tc>
                <a:tc>
                  <a:txBody>
                    <a:bodyPr/>
                    <a:lstStyle/>
                    <a:p>
                      <a:pPr marL="70929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2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3.84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Sneakers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>
                    <a:lnL w="635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7818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49.66%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/>
                </a:tc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Boots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/>
                </a:tc>
                <a:tc>
                  <a:txBody>
                    <a:bodyPr/>
                    <a:lstStyle/>
                    <a:p>
                      <a:pPr marL="70929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2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3.82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2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Coat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>
                    <a:lnL w="635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7818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49.07%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/>
                </a:tc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25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Hat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/>
                </a:tc>
                <a:tc>
                  <a:txBody>
                    <a:bodyPr/>
                    <a:lstStyle/>
                    <a:p>
                      <a:pPr marL="70929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2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3.80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Sweater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>
                    <a:lnL w="635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7818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48.17%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/>
                </a:tc>
              </a:tr>
              <a:tr h="3581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Skirt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929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2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3.78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>
                    <a:lnR w="63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Pants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>
                    <a:lnL w="635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7818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47.37%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3419" y="706487"/>
            <a:ext cx="4059554" cy="444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Customer</a:t>
            </a:r>
            <a:r>
              <a:rPr dirty="0" spc="-80"/>
              <a:t> </a:t>
            </a:r>
            <a:r>
              <a:rPr dirty="0" spc="-10"/>
              <a:t>Segmentation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119" y="1568869"/>
            <a:ext cx="3902938" cy="226085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842973" y="1513471"/>
            <a:ext cx="16954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10">
                <a:solidFill>
                  <a:srgbClr val="FFFFFF"/>
                </a:solidFill>
                <a:latin typeface="Arial"/>
                <a:cs typeface="Arial"/>
              </a:rPr>
              <a:t>2.13%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179781" y="2472480"/>
            <a:ext cx="670560" cy="389890"/>
            <a:chOff x="3179781" y="2472480"/>
            <a:chExt cx="670560" cy="389890"/>
          </a:xfrm>
        </p:grpSpPr>
        <p:sp>
          <p:nvSpPr>
            <p:cNvPr id="6" name="object 6" descr=""/>
            <p:cNvSpPr/>
            <p:nvPr/>
          </p:nvSpPr>
          <p:spPr>
            <a:xfrm>
              <a:off x="3182162" y="2474861"/>
              <a:ext cx="504190" cy="102870"/>
            </a:xfrm>
            <a:custGeom>
              <a:avLst/>
              <a:gdLst/>
              <a:ahLst/>
              <a:cxnLst/>
              <a:rect l="l" t="t" r="r" b="b"/>
              <a:pathLst>
                <a:path w="504189" h="102869">
                  <a:moveTo>
                    <a:pt x="452734" y="0"/>
                  </a:moveTo>
                  <a:lnTo>
                    <a:pt x="51419" y="0"/>
                  </a:lnTo>
                  <a:lnTo>
                    <a:pt x="31485" y="4068"/>
                  </a:lnTo>
                  <a:lnTo>
                    <a:pt x="15131" y="15133"/>
                  </a:lnTo>
                  <a:lnTo>
                    <a:pt x="4067" y="31487"/>
                  </a:lnTo>
                  <a:lnTo>
                    <a:pt x="0" y="51422"/>
                  </a:lnTo>
                  <a:lnTo>
                    <a:pt x="4067" y="71356"/>
                  </a:lnTo>
                  <a:lnTo>
                    <a:pt x="15131" y="87710"/>
                  </a:lnTo>
                  <a:lnTo>
                    <a:pt x="31485" y="98776"/>
                  </a:lnTo>
                  <a:lnTo>
                    <a:pt x="51419" y="102844"/>
                  </a:lnTo>
                  <a:lnTo>
                    <a:pt x="452734" y="102844"/>
                  </a:lnTo>
                  <a:lnTo>
                    <a:pt x="472669" y="98776"/>
                  </a:lnTo>
                  <a:lnTo>
                    <a:pt x="489022" y="87710"/>
                  </a:lnTo>
                  <a:lnTo>
                    <a:pt x="500086" y="71356"/>
                  </a:lnTo>
                  <a:lnTo>
                    <a:pt x="504154" y="51422"/>
                  </a:lnTo>
                  <a:lnTo>
                    <a:pt x="500086" y="31487"/>
                  </a:lnTo>
                  <a:lnTo>
                    <a:pt x="489022" y="15133"/>
                  </a:lnTo>
                  <a:lnTo>
                    <a:pt x="472669" y="4068"/>
                  </a:lnTo>
                  <a:lnTo>
                    <a:pt x="452734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182162" y="2474861"/>
              <a:ext cx="504190" cy="102870"/>
            </a:xfrm>
            <a:custGeom>
              <a:avLst/>
              <a:gdLst/>
              <a:ahLst/>
              <a:cxnLst/>
              <a:rect l="l" t="t" r="r" b="b"/>
              <a:pathLst>
                <a:path w="504189" h="102869">
                  <a:moveTo>
                    <a:pt x="0" y="51422"/>
                  </a:moveTo>
                  <a:lnTo>
                    <a:pt x="4067" y="31487"/>
                  </a:lnTo>
                  <a:lnTo>
                    <a:pt x="15131" y="15133"/>
                  </a:lnTo>
                  <a:lnTo>
                    <a:pt x="31485" y="4068"/>
                  </a:lnTo>
                  <a:lnTo>
                    <a:pt x="51419" y="0"/>
                  </a:lnTo>
                  <a:lnTo>
                    <a:pt x="452734" y="0"/>
                  </a:lnTo>
                  <a:lnTo>
                    <a:pt x="472669" y="4068"/>
                  </a:lnTo>
                  <a:lnTo>
                    <a:pt x="489022" y="15133"/>
                  </a:lnTo>
                  <a:lnTo>
                    <a:pt x="500086" y="31487"/>
                  </a:lnTo>
                  <a:lnTo>
                    <a:pt x="504154" y="51422"/>
                  </a:lnTo>
                  <a:lnTo>
                    <a:pt x="500086" y="71356"/>
                  </a:lnTo>
                  <a:lnTo>
                    <a:pt x="489022" y="87710"/>
                  </a:lnTo>
                  <a:lnTo>
                    <a:pt x="472669" y="98776"/>
                  </a:lnTo>
                  <a:lnTo>
                    <a:pt x="452734" y="102844"/>
                  </a:lnTo>
                  <a:lnTo>
                    <a:pt x="51419" y="102844"/>
                  </a:lnTo>
                  <a:lnTo>
                    <a:pt x="31485" y="98776"/>
                  </a:lnTo>
                  <a:lnTo>
                    <a:pt x="15131" y="87710"/>
                  </a:lnTo>
                  <a:lnTo>
                    <a:pt x="4067" y="71356"/>
                  </a:lnTo>
                  <a:lnTo>
                    <a:pt x="0" y="51422"/>
                  </a:lnTo>
                  <a:close/>
                </a:path>
              </a:pathLst>
            </a:custGeom>
            <a:ln w="4762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5500" y="2497708"/>
              <a:ext cx="57149" cy="5715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182162" y="2615806"/>
              <a:ext cx="665480" cy="102870"/>
            </a:xfrm>
            <a:custGeom>
              <a:avLst/>
              <a:gdLst/>
              <a:ahLst/>
              <a:cxnLst/>
              <a:rect l="l" t="t" r="r" b="b"/>
              <a:pathLst>
                <a:path w="665479" h="102869">
                  <a:moveTo>
                    <a:pt x="613990" y="0"/>
                  </a:moveTo>
                  <a:lnTo>
                    <a:pt x="51419" y="0"/>
                  </a:lnTo>
                  <a:lnTo>
                    <a:pt x="31485" y="4068"/>
                  </a:lnTo>
                  <a:lnTo>
                    <a:pt x="15131" y="15133"/>
                  </a:lnTo>
                  <a:lnTo>
                    <a:pt x="4067" y="31487"/>
                  </a:lnTo>
                  <a:lnTo>
                    <a:pt x="0" y="51422"/>
                  </a:lnTo>
                  <a:lnTo>
                    <a:pt x="4067" y="71356"/>
                  </a:lnTo>
                  <a:lnTo>
                    <a:pt x="15131" y="87710"/>
                  </a:lnTo>
                  <a:lnTo>
                    <a:pt x="31485" y="98776"/>
                  </a:lnTo>
                  <a:lnTo>
                    <a:pt x="51419" y="102844"/>
                  </a:lnTo>
                  <a:lnTo>
                    <a:pt x="613990" y="102844"/>
                  </a:lnTo>
                  <a:lnTo>
                    <a:pt x="633925" y="98776"/>
                  </a:lnTo>
                  <a:lnTo>
                    <a:pt x="650278" y="87710"/>
                  </a:lnTo>
                  <a:lnTo>
                    <a:pt x="661342" y="71356"/>
                  </a:lnTo>
                  <a:lnTo>
                    <a:pt x="665410" y="51422"/>
                  </a:lnTo>
                  <a:lnTo>
                    <a:pt x="661342" y="31487"/>
                  </a:lnTo>
                  <a:lnTo>
                    <a:pt x="650278" y="15133"/>
                  </a:lnTo>
                  <a:lnTo>
                    <a:pt x="633925" y="4068"/>
                  </a:lnTo>
                  <a:lnTo>
                    <a:pt x="61399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182162" y="2615806"/>
              <a:ext cx="665480" cy="102870"/>
            </a:xfrm>
            <a:custGeom>
              <a:avLst/>
              <a:gdLst/>
              <a:ahLst/>
              <a:cxnLst/>
              <a:rect l="l" t="t" r="r" b="b"/>
              <a:pathLst>
                <a:path w="665479" h="102869">
                  <a:moveTo>
                    <a:pt x="0" y="51422"/>
                  </a:moveTo>
                  <a:lnTo>
                    <a:pt x="4067" y="31487"/>
                  </a:lnTo>
                  <a:lnTo>
                    <a:pt x="15131" y="15133"/>
                  </a:lnTo>
                  <a:lnTo>
                    <a:pt x="31485" y="4068"/>
                  </a:lnTo>
                  <a:lnTo>
                    <a:pt x="51419" y="0"/>
                  </a:lnTo>
                  <a:lnTo>
                    <a:pt x="613990" y="0"/>
                  </a:lnTo>
                  <a:lnTo>
                    <a:pt x="633925" y="4068"/>
                  </a:lnTo>
                  <a:lnTo>
                    <a:pt x="650278" y="15133"/>
                  </a:lnTo>
                  <a:lnTo>
                    <a:pt x="661342" y="31487"/>
                  </a:lnTo>
                  <a:lnTo>
                    <a:pt x="665410" y="51422"/>
                  </a:lnTo>
                  <a:lnTo>
                    <a:pt x="661342" y="71356"/>
                  </a:lnTo>
                  <a:lnTo>
                    <a:pt x="650278" y="87710"/>
                  </a:lnTo>
                  <a:lnTo>
                    <a:pt x="633925" y="98776"/>
                  </a:lnTo>
                  <a:lnTo>
                    <a:pt x="613990" y="102844"/>
                  </a:lnTo>
                  <a:lnTo>
                    <a:pt x="51419" y="102844"/>
                  </a:lnTo>
                  <a:lnTo>
                    <a:pt x="31485" y="98776"/>
                  </a:lnTo>
                  <a:lnTo>
                    <a:pt x="15131" y="87710"/>
                  </a:lnTo>
                  <a:lnTo>
                    <a:pt x="4067" y="71356"/>
                  </a:lnTo>
                  <a:lnTo>
                    <a:pt x="0" y="51422"/>
                  </a:lnTo>
                  <a:close/>
                </a:path>
              </a:pathLst>
            </a:custGeom>
            <a:ln w="4762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15500" y="2638653"/>
              <a:ext cx="57149" cy="5715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182162" y="2756738"/>
              <a:ext cx="484505" cy="102870"/>
            </a:xfrm>
            <a:custGeom>
              <a:avLst/>
              <a:gdLst/>
              <a:ahLst/>
              <a:cxnLst/>
              <a:rect l="l" t="t" r="r" b="b"/>
              <a:pathLst>
                <a:path w="484504" h="102869">
                  <a:moveTo>
                    <a:pt x="432866" y="0"/>
                  </a:moveTo>
                  <a:lnTo>
                    <a:pt x="51419" y="0"/>
                  </a:lnTo>
                  <a:lnTo>
                    <a:pt x="31485" y="4068"/>
                  </a:lnTo>
                  <a:lnTo>
                    <a:pt x="15131" y="15133"/>
                  </a:lnTo>
                  <a:lnTo>
                    <a:pt x="4067" y="31487"/>
                  </a:lnTo>
                  <a:lnTo>
                    <a:pt x="0" y="51422"/>
                  </a:lnTo>
                  <a:lnTo>
                    <a:pt x="4067" y="71356"/>
                  </a:lnTo>
                  <a:lnTo>
                    <a:pt x="15131" y="87710"/>
                  </a:lnTo>
                  <a:lnTo>
                    <a:pt x="31485" y="98776"/>
                  </a:lnTo>
                  <a:lnTo>
                    <a:pt x="51419" y="102844"/>
                  </a:lnTo>
                  <a:lnTo>
                    <a:pt x="432866" y="102844"/>
                  </a:lnTo>
                  <a:lnTo>
                    <a:pt x="452801" y="98776"/>
                  </a:lnTo>
                  <a:lnTo>
                    <a:pt x="469154" y="87710"/>
                  </a:lnTo>
                  <a:lnTo>
                    <a:pt x="480218" y="71356"/>
                  </a:lnTo>
                  <a:lnTo>
                    <a:pt x="484286" y="51422"/>
                  </a:lnTo>
                  <a:lnTo>
                    <a:pt x="480218" y="31487"/>
                  </a:lnTo>
                  <a:lnTo>
                    <a:pt x="469154" y="15133"/>
                  </a:lnTo>
                  <a:lnTo>
                    <a:pt x="452801" y="4068"/>
                  </a:lnTo>
                  <a:lnTo>
                    <a:pt x="432866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182162" y="2756738"/>
              <a:ext cx="484505" cy="102870"/>
            </a:xfrm>
            <a:custGeom>
              <a:avLst/>
              <a:gdLst/>
              <a:ahLst/>
              <a:cxnLst/>
              <a:rect l="l" t="t" r="r" b="b"/>
              <a:pathLst>
                <a:path w="484504" h="102869">
                  <a:moveTo>
                    <a:pt x="0" y="51422"/>
                  </a:moveTo>
                  <a:lnTo>
                    <a:pt x="4067" y="31487"/>
                  </a:lnTo>
                  <a:lnTo>
                    <a:pt x="15131" y="15133"/>
                  </a:lnTo>
                  <a:lnTo>
                    <a:pt x="31485" y="4068"/>
                  </a:lnTo>
                  <a:lnTo>
                    <a:pt x="51419" y="0"/>
                  </a:lnTo>
                  <a:lnTo>
                    <a:pt x="432866" y="0"/>
                  </a:lnTo>
                  <a:lnTo>
                    <a:pt x="452801" y="4068"/>
                  </a:lnTo>
                  <a:lnTo>
                    <a:pt x="469154" y="15133"/>
                  </a:lnTo>
                  <a:lnTo>
                    <a:pt x="480218" y="31487"/>
                  </a:lnTo>
                  <a:lnTo>
                    <a:pt x="484286" y="51422"/>
                  </a:lnTo>
                  <a:lnTo>
                    <a:pt x="480218" y="71356"/>
                  </a:lnTo>
                  <a:lnTo>
                    <a:pt x="469154" y="87710"/>
                  </a:lnTo>
                  <a:lnTo>
                    <a:pt x="452801" y="98776"/>
                  </a:lnTo>
                  <a:lnTo>
                    <a:pt x="432866" y="102844"/>
                  </a:lnTo>
                  <a:lnTo>
                    <a:pt x="51419" y="102844"/>
                  </a:lnTo>
                  <a:lnTo>
                    <a:pt x="31485" y="98776"/>
                  </a:lnTo>
                  <a:lnTo>
                    <a:pt x="15131" y="87710"/>
                  </a:lnTo>
                  <a:lnTo>
                    <a:pt x="4067" y="71356"/>
                  </a:lnTo>
                  <a:lnTo>
                    <a:pt x="0" y="51422"/>
                  </a:lnTo>
                  <a:close/>
                </a:path>
              </a:pathLst>
            </a:custGeom>
            <a:ln w="4762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15500" y="2779585"/>
              <a:ext cx="57149" cy="57150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496119" y="1568869"/>
            <a:ext cx="3903345" cy="2261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400">
              <a:latin typeface="Times New Roman"/>
              <a:cs typeface="Times New Roman"/>
            </a:endParaRPr>
          </a:p>
          <a:p>
            <a:pPr marL="720725">
              <a:lnSpc>
                <a:spcPct val="100000"/>
              </a:lnSpc>
            </a:pPr>
            <a:r>
              <a:rPr dirty="0" sz="400" spc="-10">
                <a:solidFill>
                  <a:srgbClr val="FFFFFF"/>
                </a:solidFill>
                <a:latin typeface="Arial"/>
                <a:cs typeface="Arial"/>
              </a:rPr>
              <a:t>17.97%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400">
              <a:latin typeface="Arial"/>
              <a:cs typeface="Arial"/>
            </a:endParaRPr>
          </a:p>
          <a:p>
            <a:pPr marL="2795270" marR="621665">
              <a:lnSpc>
                <a:spcPct val="205500"/>
              </a:lnSpc>
            </a:pPr>
            <a:r>
              <a:rPr dirty="0" sz="450" spc="-65">
                <a:solidFill>
                  <a:srgbClr val="EBECEF"/>
                </a:solidFill>
                <a:latin typeface="Arial"/>
                <a:cs typeface="Arial"/>
              </a:rPr>
              <a:t>Loyal</a:t>
            </a:r>
            <a:r>
              <a:rPr dirty="0" baseline="-24691" sz="675" spc="-97">
                <a:solidFill>
                  <a:srgbClr val="EBECEF"/>
                </a:solidFill>
                <a:latin typeface="Arial"/>
                <a:cs typeface="Arial"/>
              </a:rPr>
              <a:t>·</a:t>
            </a:r>
            <a:r>
              <a:rPr dirty="0" sz="450" spc="-65">
                <a:solidFill>
                  <a:srgbClr val="EBECEF"/>
                </a:solidFill>
                <a:latin typeface="Arial"/>
                <a:cs typeface="Arial"/>
              </a:rPr>
              <a:t>7</a:t>
            </a:r>
            <a:r>
              <a:rPr dirty="0" baseline="-24691" sz="675" spc="-97">
                <a:solidFill>
                  <a:srgbClr val="EBECEF"/>
                </a:solidFill>
                <a:latin typeface="Arial"/>
                <a:cs typeface="Arial"/>
              </a:rPr>
              <a:t>7</a:t>
            </a:r>
            <a:r>
              <a:rPr dirty="0" sz="450" spc="-65">
                <a:solidFill>
                  <a:srgbClr val="EBECEF"/>
                </a:solidFill>
                <a:latin typeface="Arial"/>
                <a:cs typeface="Arial"/>
              </a:rPr>
              <a:t>·</a:t>
            </a:r>
            <a:r>
              <a:rPr dirty="0" sz="450" spc="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baseline="-24691" sz="675" spc="-30">
                <a:solidFill>
                  <a:srgbClr val="EBECEF"/>
                </a:solidFill>
                <a:latin typeface="Arial"/>
                <a:cs typeface="Arial"/>
              </a:rPr>
              <a:t>9.9%</a:t>
            </a:r>
            <a:r>
              <a:rPr dirty="0" baseline="-24691" sz="675" spc="75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450" spc="-80">
                <a:solidFill>
                  <a:srgbClr val="EBECEF"/>
                </a:solidFill>
                <a:latin typeface="Arial"/>
                <a:cs typeface="Arial"/>
              </a:rPr>
              <a:t>Returning·1</a:t>
            </a:r>
            <a:r>
              <a:rPr dirty="0" baseline="-24691" sz="675" spc="-120">
                <a:solidFill>
                  <a:srgbClr val="EBECEF"/>
                </a:solidFill>
                <a:latin typeface="Arial"/>
                <a:cs typeface="Arial"/>
              </a:rPr>
              <a:t>·1</a:t>
            </a:r>
            <a:r>
              <a:rPr dirty="0" sz="450" spc="-80">
                <a:solidFill>
                  <a:srgbClr val="EBECEF"/>
                </a:solidFill>
                <a:latin typeface="Arial"/>
                <a:cs typeface="Arial"/>
              </a:rPr>
              <a:t>·7</a:t>
            </a:r>
            <a:r>
              <a:rPr dirty="0" baseline="-24691" sz="675" spc="-120">
                <a:solidFill>
                  <a:srgbClr val="EBECEF"/>
                </a:solidFill>
                <a:latin typeface="Arial"/>
                <a:cs typeface="Arial"/>
              </a:rPr>
              <a:t>7</a:t>
            </a:r>
            <a:r>
              <a:rPr dirty="0" sz="450" spc="-80">
                <a:solidFill>
                  <a:srgbClr val="EBECEF"/>
                </a:solidFill>
                <a:latin typeface="Arial"/>
                <a:cs typeface="Arial"/>
              </a:rPr>
              <a:t>.9</a:t>
            </a:r>
            <a:r>
              <a:rPr dirty="0" baseline="-24691" sz="675" spc="-120">
                <a:solidFill>
                  <a:srgbClr val="EBECEF"/>
                </a:solidFill>
                <a:latin typeface="Arial"/>
                <a:cs typeface="Arial"/>
              </a:rPr>
              <a:t>.9</a:t>
            </a:r>
            <a:r>
              <a:rPr dirty="0" sz="450" spc="-80">
                <a:solidFill>
                  <a:srgbClr val="EBECEF"/>
                </a:solidFill>
                <a:latin typeface="Arial"/>
                <a:cs typeface="Arial"/>
              </a:rPr>
              <a:t>7</a:t>
            </a:r>
            <a:r>
              <a:rPr dirty="0" baseline="-24691" sz="675" spc="-120">
                <a:solidFill>
                  <a:srgbClr val="EBECEF"/>
                </a:solidFill>
                <a:latin typeface="Arial"/>
                <a:cs typeface="Arial"/>
              </a:rPr>
              <a:t>7</a:t>
            </a:r>
            <a:r>
              <a:rPr dirty="0" sz="450" spc="-80">
                <a:solidFill>
                  <a:srgbClr val="EBECEF"/>
                </a:solidFill>
                <a:latin typeface="Arial"/>
                <a:cs typeface="Arial"/>
              </a:rPr>
              <a:t>%</a:t>
            </a:r>
            <a:r>
              <a:rPr dirty="0" baseline="-24691" sz="675" spc="-120">
                <a:solidFill>
                  <a:srgbClr val="EBECEF"/>
                </a:solidFill>
                <a:latin typeface="Arial"/>
                <a:cs typeface="Arial"/>
              </a:rPr>
              <a:t>%</a:t>
            </a:r>
            <a:r>
              <a:rPr dirty="0" baseline="-24691" sz="675" spc="75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450" spc="-10">
                <a:solidFill>
                  <a:srgbClr val="EBECEF"/>
                </a:solidFill>
                <a:latin typeface="Arial"/>
                <a:cs typeface="Arial"/>
              </a:rPr>
              <a:t>New·</a:t>
            </a:r>
            <a:r>
              <a:rPr dirty="0" baseline="-24691" sz="675" spc="-15">
                <a:solidFill>
                  <a:srgbClr val="EBECEF"/>
                </a:solidFill>
                <a:latin typeface="Arial"/>
                <a:cs typeface="Arial"/>
              </a:rPr>
              <a:t>·2</a:t>
            </a:r>
            <a:r>
              <a:rPr dirty="0" sz="450" spc="-10">
                <a:solidFill>
                  <a:srgbClr val="EBECEF"/>
                </a:solidFill>
                <a:latin typeface="Arial"/>
                <a:cs typeface="Arial"/>
              </a:rPr>
              <a:t>·.</a:t>
            </a:r>
            <a:r>
              <a:rPr dirty="0" baseline="-24691" sz="675" spc="-15">
                <a:solidFill>
                  <a:srgbClr val="EBECEF"/>
                </a:solidFill>
                <a:latin typeface="Arial"/>
                <a:cs typeface="Arial"/>
              </a:rPr>
              <a:t>.13%</a:t>
            </a:r>
            <a:endParaRPr baseline="-24691" sz="67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50">
              <a:latin typeface="Arial"/>
              <a:cs typeface="Arial"/>
            </a:endParaRPr>
          </a:p>
          <a:p>
            <a:pPr algn="ctr" marL="662940">
              <a:lnSpc>
                <a:spcPct val="100000"/>
              </a:lnSpc>
              <a:spcBef>
                <a:spcPts val="5"/>
              </a:spcBef>
            </a:pPr>
            <a:r>
              <a:rPr dirty="0" sz="400" spc="-10">
                <a:solidFill>
                  <a:srgbClr val="FFFFFF"/>
                </a:solidFill>
                <a:latin typeface="Arial"/>
                <a:cs typeface="Arial"/>
              </a:rPr>
              <a:t>79.9%</a:t>
            </a:r>
            <a:endParaRPr sz="4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736998" y="1510068"/>
            <a:ext cx="1720214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F1F5F9"/>
                </a:solidFill>
                <a:latin typeface="Arial"/>
                <a:cs typeface="Arial"/>
              </a:rPr>
              <a:t>Segment</a:t>
            </a:r>
            <a:r>
              <a:rPr dirty="0" sz="1350" spc="-20" b="1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F1F5F9"/>
                </a:solidFill>
                <a:latin typeface="Arial"/>
                <a:cs typeface="Arial"/>
              </a:rPr>
              <a:t>Breakdown</a:t>
            </a:r>
            <a:endParaRPr sz="13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736998" y="1859940"/>
            <a:ext cx="3596640" cy="393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100"/>
              </a:spcBef>
            </a:pP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Customers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were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classified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based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on</a:t>
            </a:r>
            <a:r>
              <a:rPr dirty="0" sz="110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purchase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history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into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three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segments: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736998" y="2740799"/>
            <a:ext cx="749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EBECE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736998" y="3109099"/>
            <a:ext cx="749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EBECE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736998" y="2355989"/>
            <a:ext cx="3628390" cy="94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206375" indent="-342900">
              <a:lnSpc>
                <a:spcPct val="1098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100" b="1">
                <a:solidFill>
                  <a:srgbClr val="EBECEF"/>
                </a:solidFill>
                <a:latin typeface="Arial"/>
                <a:cs typeface="Arial"/>
              </a:rPr>
              <a:t>Loyal</a:t>
            </a:r>
            <a:r>
              <a:rPr dirty="0" sz="1100" spc="-2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BECEF"/>
                </a:solidFill>
                <a:latin typeface="Arial"/>
                <a:cs typeface="Arial"/>
              </a:rPr>
              <a:t>(3,116):</a:t>
            </a:r>
            <a:r>
              <a:rPr dirty="0" sz="1100" spc="-2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High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repeat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purchase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count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—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the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dominant</a:t>
            </a:r>
            <a:r>
              <a:rPr dirty="0" sz="1100" spc="-3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group.</a:t>
            </a:r>
            <a:endParaRPr sz="1100">
              <a:latin typeface="Arial"/>
              <a:cs typeface="Arial"/>
            </a:endParaRPr>
          </a:p>
          <a:p>
            <a:pPr marL="355600" marR="5080">
              <a:lnSpc>
                <a:spcPct val="109800"/>
              </a:lnSpc>
            </a:pPr>
            <a:r>
              <a:rPr dirty="0" sz="1100" spc="-10" b="1">
                <a:solidFill>
                  <a:srgbClr val="EBECEF"/>
                </a:solidFill>
                <a:latin typeface="Arial"/>
                <a:cs typeface="Arial"/>
              </a:rPr>
              <a:t>Returning</a:t>
            </a:r>
            <a:r>
              <a:rPr dirty="0" sz="1100" spc="-2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BECEF"/>
                </a:solidFill>
                <a:latin typeface="Arial"/>
                <a:cs typeface="Arial"/>
              </a:rPr>
              <a:t>(701):</a:t>
            </a:r>
            <a:r>
              <a:rPr dirty="0" sz="1100" spc="-2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Moderate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engagement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with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growth potential.</a:t>
            </a:r>
            <a:endParaRPr sz="11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130"/>
              </a:spcBef>
            </a:pPr>
            <a:r>
              <a:rPr dirty="0" sz="1100" b="1">
                <a:solidFill>
                  <a:srgbClr val="EBECEF"/>
                </a:solidFill>
                <a:latin typeface="Arial"/>
                <a:cs typeface="Arial"/>
              </a:rPr>
              <a:t>New</a:t>
            </a:r>
            <a:r>
              <a:rPr dirty="0" sz="1100" spc="-1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BECEF"/>
                </a:solidFill>
                <a:latin typeface="Arial"/>
                <a:cs typeface="Arial"/>
              </a:rPr>
              <a:t>(83):</a:t>
            </a:r>
            <a:r>
              <a:rPr dirty="0" sz="1100" spc="-1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Recently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 acquired</a:t>
            </a:r>
            <a:r>
              <a:rPr dirty="0" sz="110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customers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to</a:t>
            </a:r>
            <a:r>
              <a:rPr dirty="0" sz="110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nurture.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4749698" y="3551491"/>
            <a:ext cx="3903345" cy="744220"/>
            <a:chOff x="4749698" y="3551491"/>
            <a:chExt cx="3903345" cy="744220"/>
          </a:xfrm>
        </p:grpSpPr>
        <p:sp>
          <p:nvSpPr>
            <p:cNvPr id="22" name="object 22" descr=""/>
            <p:cNvSpPr/>
            <p:nvPr/>
          </p:nvSpPr>
          <p:spPr>
            <a:xfrm>
              <a:off x="4749698" y="3551491"/>
              <a:ext cx="3903345" cy="744220"/>
            </a:xfrm>
            <a:custGeom>
              <a:avLst/>
              <a:gdLst/>
              <a:ahLst/>
              <a:cxnLst/>
              <a:rect l="l" t="t" r="r" b="b"/>
              <a:pathLst>
                <a:path w="3903345" h="744220">
                  <a:moveTo>
                    <a:pt x="3843401" y="0"/>
                  </a:moveTo>
                  <a:lnTo>
                    <a:pt x="59540" y="0"/>
                  </a:lnTo>
                  <a:lnTo>
                    <a:pt x="36457" y="4709"/>
                  </a:lnTo>
                  <a:lnTo>
                    <a:pt x="17521" y="17519"/>
                  </a:lnTo>
                  <a:lnTo>
                    <a:pt x="4709" y="36454"/>
                  </a:lnTo>
                  <a:lnTo>
                    <a:pt x="0" y="59537"/>
                  </a:lnTo>
                  <a:lnTo>
                    <a:pt x="0" y="684529"/>
                  </a:lnTo>
                  <a:lnTo>
                    <a:pt x="4709" y="707613"/>
                  </a:lnTo>
                  <a:lnTo>
                    <a:pt x="17521" y="726547"/>
                  </a:lnTo>
                  <a:lnTo>
                    <a:pt x="36457" y="739358"/>
                  </a:lnTo>
                  <a:lnTo>
                    <a:pt x="59540" y="744067"/>
                  </a:lnTo>
                  <a:lnTo>
                    <a:pt x="3843401" y="744067"/>
                  </a:lnTo>
                  <a:lnTo>
                    <a:pt x="3866484" y="739358"/>
                  </a:lnTo>
                  <a:lnTo>
                    <a:pt x="3885418" y="726547"/>
                  </a:lnTo>
                  <a:lnTo>
                    <a:pt x="3898229" y="707613"/>
                  </a:lnTo>
                  <a:lnTo>
                    <a:pt x="3902938" y="684529"/>
                  </a:lnTo>
                  <a:lnTo>
                    <a:pt x="3902938" y="59537"/>
                  </a:lnTo>
                  <a:lnTo>
                    <a:pt x="3898229" y="36454"/>
                  </a:lnTo>
                  <a:lnTo>
                    <a:pt x="3885418" y="17519"/>
                  </a:lnTo>
                  <a:lnTo>
                    <a:pt x="3866484" y="4709"/>
                  </a:lnTo>
                  <a:lnTo>
                    <a:pt x="3843401" y="0"/>
                  </a:lnTo>
                  <a:close/>
                </a:path>
              </a:pathLst>
            </a:custGeom>
            <a:solidFill>
              <a:srgbClr val="02224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91455" y="3742727"/>
              <a:ext cx="177180" cy="141757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5197703" y="3713010"/>
            <a:ext cx="3244215" cy="39370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Repeat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buyers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&gt;5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purchases: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958</a:t>
            </a:r>
            <a:r>
              <a:rPr dirty="0" sz="11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subscribers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vs.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2,518</a:t>
            </a:r>
            <a:r>
              <a:rPr dirty="0" sz="11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FFFFFF"/>
                </a:solidFill>
                <a:latin typeface="Arial"/>
                <a:cs typeface="Arial"/>
              </a:rPr>
              <a:t>non-</a:t>
            </a: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subscribers.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Subscription</a:t>
            </a:r>
            <a:r>
              <a:rPr dirty="0" spc="-20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Revenue</a:t>
            </a:r>
            <a:r>
              <a:rPr dirty="0" spc="-15"/>
              <a:t> </a:t>
            </a:r>
            <a:r>
              <a:rPr dirty="0"/>
              <a:t>by</a:t>
            </a:r>
            <a:r>
              <a:rPr dirty="0" spc="-20"/>
              <a:t> </a:t>
            </a:r>
            <a:r>
              <a:rPr dirty="0"/>
              <a:t>Age</a:t>
            </a:r>
            <a:r>
              <a:rPr dirty="0" spc="-15"/>
              <a:t> </a:t>
            </a:r>
            <a:r>
              <a:rPr dirty="0" spc="-10"/>
              <a:t>Group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119" y="1550492"/>
            <a:ext cx="3902938" cy="230840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860596" y="2333891"/>
            <a:ext cx="149860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10">
                <a:latin typeface="Arial"/>
                <a:cs typeface="Arial"/>
              </a:rPr>
              <a:t>59.2k</a:t>
            </a:r>
            <a:endParaRPr sz="4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35984" y="2832760"/>
            <a:ext cx="107314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25">
                <a:latin typeface="Arial"/>
                <a:cs typeface="Arial"/>
              </a:rPr>
              <a:t>56k</a:t>
            </a:r>
            <a:endParaRPr sz="4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680333" y="3331629"/>
            <a:ext cx="149860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10">
                <a:latin typeface="Arial"/>
                <a:cs typeface="Arial"/>
              </a:rPr>
              <a:t>55.8k</a:t>
            </a:r>
            <a:endParaRPr sz="4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736998" y="1539303"/>
            <a:ext cx="1644014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F1F5F9"/>
                </a:solidFill>
                <a:latin typeface="Arial"/>
                <a:cs typeface="Arial"/>
              </a:rPr>
              <a:t>Subscription</a:t>
            </a:r>
            <a:r>
              <a:rPr dirty="0" sz="1350" spc="-70" b="1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F1F5F9"/>
                </a:solidFill>
                <a:latin typeface="Arial"/>
                <a:cs typeface="Arial"/>
              </a:rPr>
              <a:t>Status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4749698" y="1922564"/>
            <a:ext cx="3903345" cy="1847850"/>
          </a:xfrm>
          <a:custGeom>
            <a:avLst/>
            <a:gdLst/>
            <a:ahLst/>
            <a:cxnLst/>
            <a:rect l="l" t="t" r="r" b="b"/>
            <a:pathLst>
              <a:path w="3903345" h="1847850">
                <a:moveTo>
                  <a:pt x="0" y="59550"/>
                </a:moveTo>
                <a:lnTo>
                  <a:pt x="4710" y="36465"/>
                </a:lnTo>
                <a:lnTo>
                  <a:pt x="17524" y="17526"/>
                </a:lnTo>
                <a:lnTo>
                  <a:pt x="36464" y="4711"/>
                </a:lnTo>
                <a:lnTo>
                  <a:pt x="59551" y="0"/>
                </a:lnTo>
                <a:lnTo>
                  <a:pt x="3843388" y="0"/>
                </a:lnTo>
                <a:lnTo>
                  <a:pt x="3866478" y="4711"/>
                </a:lnTo>
                <a:lnTo>
                  <a:pt x="3885417" y="17525"/>
                </a:lnTo>
                <a:lnTo>
                  <a:pt x="3898229" y="36465"/>
                </a:lnTo>
                <a:lnTo>
                  <a:pt x="3902938" y="59550"/>
                </a:lnTo>
                <a:lnTo>
                  <a:pt x="3902938" y="1788147"/>
                </a:lnTo>
                <a:lnTo>
                  <a:pt x="3898229" y="1811237"/>
                </a:lnTo>
                <a:lnTo>
                  <a:pt x="3885417" y="1830176"/>
                </a:lnTo>
                <a:lnTo>
                  <a:pt x="3866478" y="1842988"/>
                </a:lnTo>
                <a:lnTo>
                  <a:pt x="3843388" y="1847697"/>
                </a:lnTo>
                <a:lnTo>
                  <a:pt x="59551" y="1847697"/>
                </a:lnTo>
                <a:lnTo>
                  <a:pt x="36464" y="1842988"/>
                </a:lnTo>
                <a:lnTo>
                  <a:pt x="17524" y="1830176"/>
                </a:lnTo>
                <a:lnTo>
                  <a:pt x="4710" y="1811237"/>
                </a:lnTo>
                <a:lnTo>
                  <a:pt x="0" y="1788147"/>
                </a:lnTo>
                <a:lnTo>
                  <a:pt x="0" y="59550"/>
                </a:lnTo>
                <a:close/>
              </a:path>
            </a:pathLst>
          </a:custGeom>
          <a:ln w="476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4003357" y="1852535"/>
          <a:ext cx="4725670" cy="1916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3230"/>
                <a:gridCol w="965200"/>
                <a:gridCol w="861059"/>
                <a:gridCol w="1109344"/>
              </a:tblGrid>
              <a:tr h="69850">
                <a:tc>
                  <a:txBody>
                    <a:bodyPr/>
                    <a:lstStyle/>
                    <a:p>
                      <a:pPr marL="31750">
                        <a:lnSpc>
                          <a:spcPts val="440"/>
                        </a:lnSpc>
                      </a:pPr>
                      <a:r>
                        <a:rPr dirty="0" sz="4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62.1k</a:t>
                      </a:r>
                      <a:endParaRPr sz="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67690">
                <a:tc>
                  <a:txBody>
                    <a:bodyPr/>
                    <a:lstStyle/>
                    <a:p>
                      <a:pPr marL="89281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1100" spc="-10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Status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7950"/>
                </a:tc>
                <a:tc>
                  <a:txBody>
                    <a:bodyPr/>
                    <a:lstStyle/>
                    <a:p>
                      <a:pPr marL="152400" marR="153035">
                        <a:lnSpc>
                          <a:spcPct val="109800"/>
                        </a:lnSpc>
                        <a:spcBef>
                          <a:spcPts val="720"/>
                        </a:spcBef>
                      </a:pPr>
                      <a:r>
                        <a:rPr dirty="0" sz="1100" spc="-10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Customer </a:t>
                      </a:r>
                      <a:r>
                        <a:rPr dirty="0" sz="1100" spc="-50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1440"/>
                </a:tc>
                <a:tc>
                  <a:txBody>
                    <a:bodyPr/>
                    <a:lstStyle/>
                    <a:p>
                      <a:pPr marL="160655" marR="266065">
                        <a:lnSpc>
                          <a:spcPct val="109800"/>
                        </a:lnSpc>
                        <a:spcBef>
                          <a:spcPts val="720"/>
                        </a:spcBef>
                      </a:pPr>
                      <a:r>
                        <a:rPr dirty="0" sz="1100" spc="-20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Avg. Spend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1440"/>
                </a:tc>
                <a:tc>
                  <a:txBody>
                    <a:bodyPr/>
                    <a:lstStyle/>
                    <a:p>
                      <a:pPr marL="273050" marR="246379">
                        <a:lnSpc>
                          <a:spcPct val="109800"/>
                        </a:lnSpc>
                        <a:spcBef>
                          <a:spcPts val="720"/>
                        </a:spcBef>
                      </a:pPr>
                      <a:r>
                        <a:rPr dirty="0" sz="1100" spc="-10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Total Revenue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1440"/>
                </a:tc>
              </a:tr>
              <a:tr h="552450">
                <a:tc>
                  <a:txBody>
                    <a:bodyPr/>
                    <a:lstStyle/>
                    <a:p>
                      <a:pPr marL="892810" marR="144780">
                        <a:lnSpc>
                          <a:spcPct val="109800"/>
                        </a:lnSpc>
                        <a:spcBef>
                          <a:spcPts val="600"/>
                        </a:spcBef>
                      </a:pP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Subscriber </a:t>
                      </a:r>
                      <a:r>
                        <a:rPr dirty="0" sz="1100" spc="-5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/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1,053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/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$59.49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/>
                </a:tc>
                <a:tc>
                  <a:txBody>
                    <a:bodyPr/>
                    <a:lstStyle/>
                    <a:p>
                      <a:pPr marL="2730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$62,645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/>
                </a:tc>
              </a:tr>
              <a:tr h="726440">
                <a:tc>
                  <a:txBody>
                    <a:bodyPr/>
                    <a:lstStyle/>
                    <a:p>
                      <a:pPr marL="892810" marR="144780">
                        <a:lnSpc>
                          <a:spcPct val="109800"/>
                        </a:lnSpc>
                        <a:spcBef>
                          <a:spcPts val="600"/>
                        </a:spcBef>
                      </a:pPr>
                      <a:r>
                        <a:rPr dirty="0" sz="1100" spc="-2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Non- </a:t>
                      </a: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Subscriber </a:t>
                      </a:r>
                      <a:r>
                        <a:rPr dirty="0" sz="1100" spc="-5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/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2,847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/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$59.87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/>
                </a:tc>
                <a:tc>
                  <a:txBody>
                    <a:bodyPr/>
                    <a:lstStyle/>
                    <a:p>
                      <a:pPr marL="2730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$170,436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2710"/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736998" y="3914076"/>
            <a:ext cx="3736340" cy="393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100"/>
              </a:spcBef>
            </a:pP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Young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Adults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lead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in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revenue.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Avg.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spend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is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nearly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identical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across</a:t>
            </a:r>
            <a:r>
              <a:rPr dirty="0" sz="110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subscription</a:t>
            </a:r>
            <a:r>
              <a:rPr dirty="0" sz="110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status</a:t>
            </a:r>
            <a:r>
              <a:rPr dirty="0" sz="110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—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volume</a:t>
            </a:r>
            <a:r>
              <a:rPr dirty="0" sz="110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drives</a:t>
            </a:r>
            <a:r>
              <a:rPr dirty="0" sz="110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the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gap.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365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Top</a:t>
            </a:r>
            <a:r>
              <a:rPr dirty="0" spc="-15"/>
              <a:t> </a:t>
            </a:r>
            <a:r>
              <a:rPr dirty="0"/>
              <a:t>Products</a:t>
            </a:r>
            <a:r>
              <a:rPr dirty="0" spc="-10"/>
              <a:t> </a:t>
            </a:r>
            <a:r>
              <a:rPr dirty="0"/>
              <a:t>by</a:t>
            </a:r>
            <a:r>
              <a:rPr dirty="0" spc="-10"/>
              <a:t> Category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88975" y="1586502"/>
            <a:ext cx="4019550" cy="1294130"/>
            <a:chOff x="488975" y="1586502"/>
            <a:chExt cx="4019550" cy="1294130"/>
          </a:xfrm>
        </p:grpSpPr>
        <p:sp>
          <p:nvSpPr>
            <p:cNvPr id="4" name="object 4" descr=""/>
            <p:cNvSpPr/>
            <p:nvPr/>
          </p:nvSpPr>
          <p:spPr>
            <a:xfrm>
              <a:off x="496119" y="1593646"/>
              <a:ext cx="4005579" cy="1279525"/>
            </a:xfrm>
            <a:custGeom>
              <a:avLst/>
              <a:gdLst/>
              <a:ahLst/>
              <a:cxnLst/>
              <a:rect l="l" t="t" r="r" b="b"/>
              <a:pathLst>
                <a:path w="4005579" h="1279525">
                  <a:moveTo>
                    <a:pt x="3945420" y="0"/>
                  </a:moveTo>
                  <a:lnTo>
                    <a:pt x="59539" y="0"/>
                  </a:lnTo>
                  <a:lnTo>
                    <a:pt x="36457" y="4709"/>
                  </a:lnTo>
                  <a:lnTo>
                    <a:pt x="17521" y="17519"/>
                  </a:lnTo>
                  <a:lnTo>
                    <a:pt x="4709" y="36454"/>
                  </a:lnTo>
                  <a:lnTo>
                    <a:pt x="0" y="59537"/>
                  </a:lnTo>
                  <a:lnTo>
                    <a:pt x="0" y="1219784"/>
                  </a:lnTo>
                  <a:lnTo>
                    <a:pt x="4709" y="1242867"/>
                  </a:lnTo>
                  <a:lnTo>
                    <a:pt x="17521" y="1261802"/>
                  </a:lnTo>
                  <a:lnTo>
                    <a:pt x="36457" y="1274612"/>
                  </a:lnTo>
                  <a:lnTo>
                    <a:pt x="59539" y="1279321"/>
                  </a:lnTo>
                  <a:lnTo>
                    <a:pt x="3945420" y="1279321"/>
                  </a:lnTo>
                  <a:lnTo>
                    <a:pt x="3968505" y="1274612"/>
                  </a:lnTo>
                  <a:lnTo>
                    <a:pt x="3987444" y="1261802"/>
                  </a:lnTo>
                  <a:lnTo>
                    <a:pt x="4000259" y="1242867"/>
                  </a:lnTo>
                  <a:lnTo>
                    <a:pt x="4004970" y="1219784"/>
                  </a:lnTo>
                  <a:lnTo>
                    <a:pt x="4004970" y="59537"/>
                  </a:lnTo>
                  <a:lnTo>
                    <a:pt x="4000259" y="36454"/>
                  </a:lnTo>
                  <a:lnTo>
                    <a:pt x="3987444" y="17519"/>
                  </a:lnTo>
                  <a:lnTo>
                    <a:pt x="3968505" y="4709"/>
                  </a:lnTo>
                  <a:lnTo>
                    <a:pt x="3945420" y="0"/>
                  </a:lnTo>
                  <a:close/>
                </a:path>
              </a:pathLst>
            </a:custGeom>
            <a:solidFill>
              <a:srgbClr val="10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96119" y="1593646"/>
              <a:ext cx="4005579" cy="1279525"/>
            </a:xfrm>
            <a:custGeom>
              <a:avLst/>
              <a:gdLst/>
              <a:ahLst/>
              <a:cxnLst/>
              <a:rect l="l" t="t" r="r" b="b"/>
              <a:pathLst>
                <a:path w="4005579" h="1279525">
                  <a:moveTo>
                    <a:pt x="0" y="59537"/>
                  </a:moveTo>
                  <a:lnTo>
                    <a:pt x="4709" y="36454"/>
                  </a:lnTo>
                  <a:lnTo>
                    <a:pt x="17521" y="17519"/>
                  </a:lnTo>
                  <a:lnTo>
                    <a:pt x="36457" y="4709"/>
                  </a:lnTo>
                  <a:lnTo>
                    <a:pt x="59539" y="0"/>
                  </a:lnTo>
                  <a:lnTo>
                    <a:pt x="3945420" y="0"/>
                  </a:lnTo>
                  <a:lnTo>
                    <a:pt x="3968505" y="4709"/>
                  </a:lnTo>
                  <a:lnTo>
                    <a:pt x="3987444" y="17519"/>
                  </a:lnTo>
                  <a:lnTo>
                    <a:pt x="4000259" y="36454"/>
                  </a:lnTo>
                  <a:lnTo>
                    <a:pt x="4004970" y="59537"/>
                  </a:lnTo>
                  <a:lnTo>
                    <a:pt x="4004970" y="1219784"/>
                  </a:lnTo>
                  <a:lnTo>
                    <a:pt x="4000259" y="1242867"/>
                  </a:lnTo>
                  <a:lnTo>
                    <a:pt x="3987444" y="1261802"/>
                  </a:lnTo>
                  <a:lnTo>
                    <a:pt x="3968505" y="1274612"/>
                  </a:lnTo>
                  <a:lnTo>
                    <a:pt x="3945420" y="1279321"/>
                  </a:lnTo>
                  <a:lnTo>
                    <a:pt x="59539" y="1279321"/>
                  </a:lnTo>
                  <a:lnTo>
                    <a:pt x="36457" y="1274612"/>
                  </a:lnTo>
                  <a:lnTo>
                    <a:pt x="17521" y="1261802"/>
                  </a:lnTo>
                  <a:lnTo>
                    <a:pt x="4709" y="1242867"/>
                  </a:lnTo>
                  <a:lnTo>
                    <a:pt x="0" y="1219784"/>
                  </a:lnTo>
                  <a:lnTo>
                    <a:pt x="0" y="59537"/>
                  </a:lnTo>
                  <a:close/>
                </a:path>
              </a:pathLst>
            </a:custGeom>
            <a:ln w="14287">
              <a:solidFill>
                <a:srgbClr val="002A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652165" y="1749882"/>
            <a:ext cx="1233170" cy="8775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50" spc="350">
                <a:latin typeface="Segoe UI Symbol"/>
                <a:cs typeface="Segoe UI Symbol"/>
              </a:rPr>
              <a:t>👗</a:t>
            </a:r>
            <a:r>
              <a:rPr dirty="0" sz="1350" spc="5">
                <a:latin typeface="Segoe UI Symbol"/>
                <a:cs typeface="Segoe UI Symbol"/>
              </a:rPr>
              <a:t> </a:t>
            </a:r>
            <a:r>
              <a:rPr dirty="0" sz="1350" spc="-10" b="1">
                <a:solidFill>
                  <a:srgbClr val="EBECEF"/>
                </a:solidFill>
                <a:latin typeface="Arial"/>
                <a:cs typeface="Arial"/>
              </a:rPr>
              <a:t>Clothing</a:t>
            </a:r>
            <a:endParaRPr sz="135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865"/>
              </a:spcBef>
              <a:buChar char="•"/>
              <a:tabLst>
                <a:tab pos="342265" algn="l"/>
              </a:tabLst>
            </a:pP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Blouse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—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171</a:t>
            </a:r>
            <a:endParaRPr sz="11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30"/>
              </a:spcBef>
              <a:buChar char="•"/>
              <a:tabLst>
                <a:tab pos="342265" algn="l"/>
              </a:tabLst>
            </a:pP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Pants</a:t>
            </a:r>
            <a:r>
              <a:rPr dirty="0" sz="1100" spc="-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—</a:t>
            </a:r>
            <a:r>
              <a:rPr dirty="0" sz="1100" spc="-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171</a:t>
            </a:r>
            <a:endParaRPr sz="11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30"/>
              </a:spcBef>
              <a:buChar char="•"/>
              <a:tabLst>
                <a:tab pos="342265" algn="l"/>
              </a:tabLst>
            </a:pP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Shirt</a:t>
            </a:r>
            <a:r>
              <a:rPr dirty="0" sz="110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—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169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635696" y="1586502"/>
            <a:ext cx="4019550" cy="1294130"/>
            <a:chOff x="4635696" y="1586502"/>
            <a:chExt cx="4019550" cy="1294130"/>
          </a:xfrm>
        </p:grpSpPr>
        <p:sp>
          <p:nvSpPr>
            <p:cNvPr id="8" name="object 8" descr=""/>
            <p:cNvSpPr/>
            <p:nvPr/>
          </p:nvSpPr>
          <p:spPr>
            <a:xfrm>
              <a:off x="4642840" y="1593646"/>
              <a:ext cx="4005579" cy="1279525"/>
            </a:xfrm>
            <a:custGeom>
              <a:avLst/>
              <a:gdLst/>
              <a:ahLst/>
              <a:cxnLst/>
              <a:rect l="l" t="t" r="r" b="b"/>
              <a:pathLst>
                <a:path w="4005579" h="1279525">
                  <a:moveTo>
                    <a:pt x="3945496" y="0"/>
                  </a:moveTo>
                  <a:lnTo>
                    <a:pt x="59539" y="0"/>
                  </a:lnTo>
                  <a:lnTo>
                    <a:pt x="36457" y="4709"/>
                  </a:lnTo>
                  <a:lnTo>
                    <a:pt x="17521" y="17519"/>
                  </a:lnTo>
                  <a:lnTo>
                    <a:pt x="4709" y="36454"/>
                  </a:lnTo>
                  <a:lnTo>
                    <a:pt x="0" y="59537"/>
                  </a:lnTo>
                  <a:lnTo>
                    <a:pt x="0" y="1219784"/>
                  </a:lnTo>
                  <a:lnTo>
                    <a:pt x="4709" y="1242867"/>
                  </a:lnTo>
                  <a:lnTo>
                    <a:pt x="17521" y="1261802"/>
                  </a:lnTo>
                  <a:lnTo>
                    <a:pt x="36457" y="1274612"/>
                  </a:lnTo>
                  <a:lnTo>
                    <a:pt x="59539" y="1279321"/>
                  </a:lnTo>
                  <a:lnTo>
                    <a:pt x="3945496" y="1279321"/>
                  </a:lnTo>
                  <a:lnTo>
                    <a:pt x="3968579" y="1274612"/>
                  </a:lnTo>
                  <a:lnTo>
                    <a:pt x="3987514" y="1261802"/>
                  </a:lnTo>
                  <a:lnTo>
                    <a:pt x="4000324" y="1242867"/>
                  </a:lnTo>
                  <a:lnTo>
                    <a:pt x="4005033" y="1219784"/>
                  </a:lnTo>
                  <a:lnTo>
                    <a:pt x="4005033" y="59537"/>
                  </a:lnTo>
                  <a:lnTo>
                    <a:pt x="4000324" y="36454"/>
                  </a:lnTo>
                  <a:lnTo>
                    <a:pt x="3987514" y="17519"/>
                  </a:lnTo>
                  <a:lnTo>
                    <a:pt x="3968579" y="4709"/>
                  </a:lnTo>
                  <a:lnTo>
                    <a:pt x="3945496" y="0"/>
                  </a:lnTo>
                  <a:close/>
                </a:path>
              </a:pathLst>
            </a:custGeom>
            <a:solidFill>
              <a:srgbClr val="10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642840" y="1593646"/>
              <a:ext cx="4005579" cy="1279525"/>
            </a:xfrm>
            <a:custGeom>
              <a:avLst/>
              <a:gdLst/>
              <a:ahLst/>
              <a:cxnLst/>
              <a:rect l="l" t="t" r="r" b="b"/>
              <a:pathLst>
                <a:path w="4005579" h="1279525">
                  <a:moveTo>
                    <a:pt x="0" y="59537"/>
                  </a:moveTo>
                  <a:lnTo>
                    <a:pt x="4709" y="36454"/>
                  </a:lnTo>
                  <a:lnTo>
                    <a:pt x="17521" y="17519"/>
                  </a:lnTo>
                  <a:lnTo>
                    <a:pt x="36457" y="4709"/>
                  </a:lnTo>
                  <a:lnTo>
                    <a:pt x="59539" y="0"/>
                  </a:lnTo>
                  <a:lnTo>
                    <a:pt x="3945496" y="0"/>
                  </a:lnTo>
                  <a:lnTo>
                    <a:pt x="3968579" y="4709"/>
                  </a:lnTo>
                  <a:lnTo>
                    <a:pt x="3987514" y="17519"/>
                  </a:lnTo>
                  <a:lnTo>
                    <a:pt x="4000324" y="36454"/>
                  </a:lnTo>
                  <a:lnTo>
                    <a:pt x="4005033" y="59537"/>
                  </a:lnTo>
                  <a:lnTo>
                    <a:pt x="4005033" y="1219784"/>
                  </a:lnTo>
                  <a:lnTo>
                    <a:pt x="4000324" y="1242867"/>
                  </a:lnTo>
                  <a:lnTo>
                    <a:pt x="3987514" y="1261802"/>
                  </a:lnTo>
                  <a:lnTo>
                    <a:pt x="3968579" y="1274612"/>
                  </a:lnTo>
                  <a:lnTo>
                    <a:pt x="3945496" y="1279321"/>
                  </a:lnTo>
                  <a:lnTo>
                    <a:pt x="59539" y="1279321"/>
                  </a:lnTo>
                  <a:lnTo>
                    <a:pt x="36457" y="1274612"/>
                  </a:lnTo>
                  <a:lnTo>
                    <a:pt x="17521" y="1261802"/>
                  </a:lnTo>
                  <a:lnTo>
                    <a:pt x="4709" y="1242867"/>
                  </a:lnTo>
                  <a:lnTo>
                    <a:pt x="0" y="1219784"/>
                  </a:lnTo>
                  <a:lnTo>
                    <a:pt x="0" y="59537"/>
                  </a:lnTo>
                  <a:close/>
                </a:path>
              </a:pathLst>
            </a:custGeom>
            <a:ln w="14287">
              <a:solidFill>
                <a:srgbClr val="002A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798885" y="1749882"/>
            <a:ext cx="128778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50" spc="350">
                <a:latin typeface="Segoe UI Symbol"/>
                <a:cs typeface="Segoe UI Symbol"/>
              </a:rPr>
              <a:t>💍</a:t>
            </a:r>
            <a:r>
              <a:rPr dirty="0" sz="1350" spc="5">
                <a:latin typeface="Segoe UI Symbol"/>
                <a:cs typeface="Segoe UI Symbol"/>
              </a:rPr>
              <a:t> </a:t>
            </a:r>
            <a:r>
              <a:rPr dirty="0" sz="1350" spc="-10" b="1">
                <a:solidFill>
                  <a:srgbClr val="EBECEF"/>
                </a:solidFill>
                <a:latin typeface="Arial"/>
                <a:cs typeface="Arial"/>
              </a:rPr>
              <a:t>Accessories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798885" y="2049411"/>
            <a:ext cx="1528445" cy="57785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229"/>
              </a:spcBef>
              <a:buChar char="•"/>
              <a:tabLst>
                <a:tab pos="342265" algn="l"/>
              </a:tabLst>
            </a:pP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Jewelry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—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171</a:t>
            </a:r>
            <a:endParaRPr sz="11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30"/>
              </a:spcBef>
              <a:buChar char="•"/>
              <a:tabLst>
                <a:tab pos="342265" algn="l"/>
              </a:tabLst>
            </a:pP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Sunglasses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—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161</a:t>
            </a:r>
            <a:endParaRPr sz="11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30"/>
              </a:spcBef>
              <a:buChar char="•"/>
              <a:tabLst>
                <a:tab pos="342265" algn="l"/>
              </a:tabLst>
            </a:pP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Belt</a:t>
            </a:r>
            <a:r>
              <a:rPr dirty="0" sz="110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—</a:t>
            </a:r>
            <a:r>
              <a:rPr dirty="0" sz="110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161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88975" y="3007594"/>
            <a:ext cx="4019550" cy="1294130"/>
            <a:chOff x="488975" y="3007594"/>
            <a:chExt cx="4019550" cy="1294130"/>
          </a:xfrm>
        </p:grpSpPr>
        <p:sp>
          <p:nvSpPr>
            <p:cNvPr id="13" name="object 13" descr=""/>
            <p:cNvSpPr/>
            <p:nvPr/>
          </p:nvSpPr>
          <p:spPr>
            <a:xfrm>
              <a:off x="496119" y="3014738"/>
              <a:ext cx="4005579" cy="1279525"/>
            </a:xfrm>
            <a:custGeom>
              <a:avLst/>
              <a:gdLst/>
              <a:ahLst/>
              <a:cxnLst/>
              <a:rect l="l" t="t" r="r" b="b"/>
              <a:pathLst>
                <a:path w="4005579" h="1279525">
                  <a:moveTo>
                    <a:pt x="3945420" y="0"/>
                  </a:moveTo>
                  <a:lnTo>
                    <a:pt x="59539" y="0"/>
                  </a:lnTo>
                  <a:lnTo>
                    <a:pt x="36457" y="4709"/>
                  </a:lnTo>
                  <a:lnTo>
                    <a:pt x="17521" y="17519"/>
                  </a:lnTo>
                  <a:lnTo>
                    <a:pt x="4709" y="36454"/>
                  </a:lnTo>
                  <a:lnTo>
                    <a:pt x="0" y="59537"/>
                  </a:lnTo>
                  <a:lnTo>
                    <a:pt x="0" y="1219784"/>
                  </a:lnTo>
                  <a:lnTo>
                    <a:pt x="4709" y="1242867"/>
                  </a:lnTo>
                  <a:lnTo>
                    <a:pt x="17521" y="1261802"/>
                  </a:lnTo>
                  <a:lnTo>
                    <a:pt x="36457" y="1274612"/>
                  </a:lnTo>
                  <a:lnTo>
                    <a:pt x="59539" y="1279321"/>
                  </a:lnTo>
                  <a:lnTo>
                    <a:pt x="3945420" y="1279321"/>
                  </a:lnTo>
                  <a:lnTo>
                    <a:pt x="3968505" y="1274612"/>
                  </a:lnTo>
                  <a:lnTo>
                    <a:pt x="3987444" y="1261802"/>
                  </a:lnTo>
                  <a:lnTo>
                    <a:pt x="4000259" y="1242867"/>
                  </a:lnTo>
                  <a:lnTo>
                    <a:pt x="4004970" y="1219784"/>
                  </a:lnTo>
                  <a:lnTo>
                    <a:pt x="4004970" y="59537"/>
                  </a:lnTo>
                  <a:lnTo>
                    <a:pt x="4000259" y="36454"/>
                  </a:lnTo>
                  <a:lnTo>
                    <a:pt x="3987444" y="17519"/>
                  </a:lnTo>
                  <a:lnTo>
                    <a:pt x="3968505" y="4709"/>
                  </a:lnTo>
                  <a:lnTo>
                    <a:pt x="3945420" y="0"/>
                  </a:lnTo>
                  <a:close/>
                </a:path>
              </a:pathLst>
            </a:custGeom>
            <a:solidFill>
              <a:srgbClr val="10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96119" y="3014738"/>
              <a:ext cx="4005579" cy="1279525"/>
            </a:xfrm>
            <a:custGeom>
              <a:avLst/>
              <a:gdLst/>
              <a:ahLst/>
              <a:cxnLst/>
              <a:rect l="l" t="t" r="r" b="b"/>
              <a:pathLst>
                <a:path w="4005579" h="1279525">
                  <a:moveTo>
                    <a:pt x="0" y="59537"/>
                  </a:moveTo>
                  <a:lnTo>
                    <a:pt x="4709" y="36454"/>
                  </a:lnTo>
                  <a:lnTo>
                    <a:pt x="17521" y="17519"/>
                  </a:lnTo>
                  <a:lnTo>
                    <a:pt x="36457" y="4709"/>
                  </a:lnTo>
                  <a:lnTo>
                    <a:pt x="59539" y="0"/>
                  </a:lnTo>
                  <a:lnTo>
                    <a:pt x="3945420" y="0"/>
                  </a:lnTo>
                  <a:lnTo>
                    <a:pt x="3968505" y="4709"/>
                  </a:lnTo>
                  <a:lnTo>
                    <a:pt x="3987444" y="17519"/>
                  </a:lnTo>
                  <a:lnTo>
                    <a:pt x="4000259" y="36454"/>
                  </a:lnTo>
                  <a:lnTo>
                    <a:pt x="4004970" y="59537"/>
                  </a:lnTo>
                  <a:lnTo>
                    <a:pt x="4004970" y="1219784"/>
                  </a:lnTo>
                  <a:lnTo>
                    <a:pt x="4000259" y="1242867"/>
                  </a:lnTo>
                  <a:lnTo>
                    <a:pt x="3987444" y="1261802"/>
                  </a:lnTo>
                  <a:lnTo>
                    <a:pt x="3968505" y="1274612"/>
                  </a:lnTo>
                  <a:lnTo>
                    <a:pt x="3945420" y="1279321"/>
                  </a:lnTo>
                  <a:lnTo>
                    <a:pt x="59539" y="1279321"/>
                  </a:lnTo>
                  <a:lnTo>
                    <a:pt x="36457" y="1274612"/>
                  </a:lnTo>
                  <a:lnTo>
                    <a:pt x="17521" y="1261802"/>
                  </a:lnTo>
                  <a:lnTo>
                    <a:pt x="4709" y="1242867"/>
                  </a:lnTo>
                  <a:lnTo>
                    <a:pt x="0" y="1219784"/>
                  </a:lnTo>
                  <a:lnTo>
                    <a:pt x="0" y="59537"/>
                  </a:lnTo>
                  <a:close/>
                </a:path>
              </a:pathLst>
            </a:custGeom>
            <a:ln w="14287">
              <a:solidFill>
                <a:srgbClr val="002A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652165" y="3170974"/>
            <a:ext cx="1396365" cy="8775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50" spc="350">
                <a:latin typeface="Segoe UI Symbol"/>
                <a:cs typeface="Segoe UI Symbol"/>
              </a:rPr>
              <a:t>👟</a:t>
            </a:r>
            <a:r>
              <a:rPr dirty="0" sz="1350" spc="5">
                <a:latin typeface="Segoe UI Symbol"/>
                <a:cs typeface="Segoe UI Symbol"/>
              </a:rPr>
              <a:t> </a:t>
            </a:r>
            <a:r>
              <a:rPr dirty="0" sz="1350" spc="-10" b="1">
                <a:solidFill>
                  <a:srgbClr val="EBECEF"/>
                </a:solidFill>
                <a:latin typeface="Arial"/>
                <a:cs typeface="Arial"/>
              </a:rPr>
              <a:t>Footwear</a:t>
            </a:r>
            <a:endParaRPr sz="135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865"/>
              </a:spcBef>
              <a:buChar char="•"/>
              <a:tabLst>
                <a:tab pos="342265" algn="l"/>
              </a:tabLst>
            </a:pP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Sandals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—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160</a:t>
            </a:r>
            <a:endParaRPr sz="11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30"/>
              </a:spcBef>
              <a:buChar char="•"/>
              <a:tabLst>
                <a:tab pos="342265" algn="l"/>
              </a:tabLst>
            </a:pP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Shoes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—</a:t>
            </a:r>
            <a:r>
              <a:rPr dirty="0" sz="110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150</a:t>
            </a:r>
            <a:endParaRPr sz="11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30"/>
              </a:spcBef>
              <a:buChar char="•"/>
              <a:tabLst>
                <a:tab pos="342265" algn="l"/>
              </a:tabLst>
            </a:pP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Sneakers</a:t>
            </a:r>
            <a:r>
              <a:rPr dirty="0" sz="1100" spc="-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—</a:t>
            </a:r>
            <a:r>
              <a:rPr dirty="0" sz="1100" spc="-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145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635696" y="3007594"/>
            <a:ext cx="4019550" cy="1294130"/>
            <a:chOff x="4635696" y="3007594"/>
            <a:chExt cx="4019550" cy="1294130"/>
          </a:xfrm>
        </p:grpSpPr>
        <p:sp>
          <p:nvSpPr>
            <p:cNvPr id="17" name="object 17" descr=""/>
            <p:cNvSpPr/>
            <p:nvPr/>
          </p:nvSpPr>
          <p:spPr>
            <a:xfrm>
              <a:off x="4642840" y="3014738"/>
              <a:ext cx="4005579" cy="1279525"/>
            </a:xfrm>
            <a:custGeom>
              <a:avLst/>
              <a:gdLst/>
              <a:ahLst/>
              <a:cxnLst/>
              <a:rect l="l" t="t" r="r" b="b"/>
              <a:pathLst>
                <a:path w="4005579" h="1279525">
                  <a:moveTo>
                    <a:pt x="3945496" y="0"/>
                  </a:moveTo>
                  <a:lnTo>
                    <a:pt x="59539" y="0"/>
                  </a:lnTo>
                  <a:lnTo>
                    <a:pt x="36457" y="4709"/>
                  </a:lnTo>
                  <a:lnTo>
                    <a:pt x="17521" y="17519"/>
                  </a:lnTo>
                  <a:lnTo>
                    <a:pt x="4709" y="36454"/>
                  </a:lnTo>
                  <a:lnTo>
                    <a:pt x="0" y="59537"/>
                  </a:lnTo>
                  <a:lnTo>
                    <a:pt x="0" y="1219784"/>
                  </a:lnTo>
                  <a:lnTo>
                    <a:pt x="4709" y="1242867"/>
                  </a:lnTo>
                  <a:lnTo>
                    <a:pt x="17521" y="1261802"/>
                  </a:lnTo>
                  <a:lnTo>
                    <a:pt x="36457" y="1274612"/>
                  </a:lnTo>
                  <a:lnTo>
                    <a:pt x="59539" y="1279321"/>
                  </a:lnTo>
                  <a:lnTo>
                    <a:pt x="3945496" y="1279321"/>
                  </a:lnTo>
                  <a:lnTo>
                    <a:pt x="3968579" y="1274612"/>
                  </a:lnTo>
                  <a:lnTo>
                    <a:pt x="3987514" y="1261802"/>
                  </a:lnTo>
                  <a:lnTo>
                    <a:pt x="4000324" y="1242867"/>
                  </a:lnTo>
                  <a:lnTo>
                    <a:pt x="4005033" y="1219784"/>
                  </a:lnTo>
                  <a:lnTo>
                    <a:pt x="4005033" y="59537"/>
                  </a:lnTo>
                  <a:lnTo>
                    <a:pt x="4000324" y="36454"/>
                  </a:lnTo>
                  <a:lnTo>
                    <a:pt x="3987514" y="17519"/>
                  </a:lnTo>
                  <a:lnTo>
                    <a:pt x="3968579" y="4709"/>
                  </a:lnTo>
                  <a:lnTo>
                    <a:pt x="3945496" y="0"/>
                  </a:lnTo>
                  <a:close/>
                </a:path>
              </a:pathLst>
            </a:custGeom>
            <a:solidFill>
              <a:srgbClr val="10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642840" y="3014738"/>
              <a:ext cx="4005579" cy="1279525"/>
            </a:xfrm>
            <a:custGeom>
              <a:avLst/>
              <a:gdLst/>
              <a:ahLst/>
              <a:cxnLst/>
              <a:rect l="l" t="t" r="r" b="b"/>
              <a:pathLst>
                <a:path w="4005579" h="1279525">
                  <a:moveTo>
                    <a:pt x="0" y="59537"/>
                  </a:moveTo>
                  <a:lnTo>
                    <a:pt x="4709" y="36454"/>
                  </a:lnTo>
                  <a:lnTo>
                    <a:pt x="17521" y="17519"/>
                  </a:lnTo>
                  <a:lnTo>
                    <a:pt x="36457" y="4709"/>
                  </a:lnTo>
                  <a:lnTo>
                    <a:pt x="59539" y="0"/>
                  </a:lnTo>
                  <a:lnTo>
                    <a:pt x="3945496" y="0"/>
                  </a:lnTo>
                  <a:lnTo>
                    <a:pt x="3968579" y="4709"/>
                  </a:lnTo>
                  <a:lnTo>
                    <a:pt x="3987514" y="17519"/>
                  </a:lnTo>
                  <a:lnTo>
                    <a:pt x="4000324" y="36454"/>
                  </a:lnTo>
                  <a:lnTo>
                    <a:pt x="4005033" y="59537"/>
                  </a:lnTo>
                  <a:lnTo>
                    <a:pt x="4005033" y="1219784"/>
                  </a:lnTo>
                  <a:lnTo>
                    <a:pt x="4000324" y="1242867"/>
                  </a:lnTo>
                  <a:lnTo>
                    <a:pt x="3987514" y="1261802"/>
                  </a:lnTo>
                  <a:lnTo>
                    <a:pt x="3968579" y="1274612"/>
                  </a:lnTo>
                  <a:lnTo>
                    <a:pt x="3945496" y="1279321"/>
                  </a:lnTo>
                  <a:lnTo>
                    <a:pt x="59539" y="1279321"/>
                  </a:lnTo>
                  <a:lnTo>
                    <a:pt x="36457" y="1274612"/>
                  </a:lnTo>
                  <a:lnTo>
                    <a:pt x="17521" y="1261802"/>
                  </a:lnTo>
                  <a:lnTo>
                    <a:pt x="4709" y="1242867"/>
                  </a:lnTo>
                  <a:lnTo>
                    <a:pt x="0" y="1219784"/>
                  </a:lnTo>
                  <a:lnTo>
                    <a:pt x="0" y="59537"/>
                  </a:lnTo>
                  <a:close/>
                </a:path>
              </a:pathLst>
            </a:custGeom>
            <a:ln w="14287">
              <a:solidFill>
                <a:srgbClr val="002A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4798885" y="3159760"/>
            <a:ext cx="107950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50" spc="725">
                <a:latin typeface="Segoe UI Symbol"/>
                <a:cs typeface="Segoe UI Symbol"/>
              </a:rPr>
              <a:t>🧥</a:t>
            </a:r>
            <a:r>
              <a:rPr dirty="0" sz="1350" spc="5">
                <a:latin typeface="Segoe UI Symbol"/>
                <a:cs typeface="Segoe UI Symbol"/>
              </a:rPr>
              <a:t> </a:t>
            </a:r>
            <a:r>
              <a:rPr dirty="0" sz="1350" spc="-85" b="1">
                <a:solidFill>
                  <a:srgbClr val="EBECEF"/>
                </a:solidFill>
                <a:latin typeface="Arial"/>
                <a:cs typeface="Arial"/>
              </a:rPr>
              <a:t>Outerwear</a:t>
            </a:r>
            <a:endParaRPr sz="135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798885" y="3470490"/>
            <a:ext cx="1209675" cy="39370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229"/>
              </a:spcBef>
              <a:buChar char="•"/>
              <a:tabLst>
                <a:tab pos="342265" algn="l"/>
              </a:tabLst>
            </a:pP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Jacket</a:t>
            </a:r>
            <a:r>
              <a:rPr dirty="0" sz="110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—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163</a:t>
            </a:r>
            <a:endParaRPr sz="11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30"/>
              </a:spcBef>
              <a:buChar char="•"/>
              <a:tabLst>
                <a:tab pos="342265" algn="l"/>
              </a:tabLst>
            </a:pP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Coat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—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161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20329" y="3387953"/>
            <a:ext cx="244602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solidFill>
                  <a:srgbClr val="F1F5F9"/>
                </a:solidFill>
                <a:latin typeface="Arial"/>
                <a:cs typeface="Arial"/>
              </a:rPr>
              <a:t>Power</a:t>
            </a:r>
            <a:r>
              <a:rPr dirty="0" sz="1950" spc="-15" b="1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1F5F9"/>
                </a:solidFill>
                <a:latin typeface="Arial"/>
                <a:cs typeface="Arial"/>
              </a:rPr>
              <a:t>BI</a:t>
            </a:r>
            <a:r>
              <a:rPr dirty="0" sz="1950" spc="-15" b="1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F1F5F9"/>
                </a:solidFill>
                <a:latin typeface="Arial"/>
                <a:cs typeface="Arial"/>
              </a:rPr>
              <a:t>Dashboard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33029" y="3808209"/>
            <a:ext cx="6878320" cy="1046480"/>
            <a:chOff x="1133029" y="3808209"/>
            <a:chExt cx="6878320" cy="1046480"/>
          </a:xfrm>
        </p:grpSpPr>
        <p:sp>
          <p:nvSpPr>
            <p:cNvPr id="4" name="object 4" descr=""/>
            <p:cNvSpPr/>
            <p:nvPr/>
          </p:nvSpPr>
          <p:spPr>
            <a:xfrm>
              <a:off x="1133029" y="3808209"/>
              <a:ext cx="6878320" cy="1046480"/>
            </a:xfrm>
            <a:custGeom>
              <a:avLst/>
              <a:gdLst/>
              <a:ahLst/>
              <a:cxnLst/>
              <a:rect l="l" t="t" r="r" b="b"/>
              <a:pathLst>
                <a:path w="6878320" h="1046479">
                  <a:moveTo>
                    <a:pt x="6836003" y="0"/>
                  </a:moveTo>
                  <a:lnTo>
                    <a:pt x="41860" y="0"/>
                  </a:lnTo>
                  <a:lnTo>
                    <a:pt x="25631" y="3311"/>
                  </a:lnTo>
                  <a:lnTo>
                    <a:pt x="12318" y="12319"/>
                  </a:lnTo>
                  <a:lnTo>
                    <a:pt x="3311" y="25631"/>
                  </a:lnTo>
                  <a:lnTo>
                    <a:pt x="0" y="41859"/>
                  </a:lnTo>
                  <a:lnTo>
                    <a:pt x="0" y="1004404"/>
                  </a:lnTo>
                  <a:lnTo>
                    <a:pt x="3311" y="1020632"/>
                  </a:lnTo>
                  <a:lnTo>
                    <a:pt x="12318" y="1033945"/>
                  </a:lnTo>
                  <a:lnTo>
                    <a:pt x="25631" y="1042952"/>
                  </a:lnTo>
                  <a:lnTo>
                    <a:pt x="41860" y="1046264"/>
                  </a:lnTo>
                  <a:lnTo>
                    <a:pt x="6836003" y="1046264"/>
                  </a:lnTo>
                  <a:lnTo>
                    <a:pt x="6852236" y="1042952"/>
                  </a:lnTo>
                  <a:lnTo>
                    <a:pt x="6865548" y="1033945"/>
                  </a:lnTo>
                  <a:lnTo>
                    <a:pt x="6874553" y="1020632"/>
                  </a:lnTo>
                  <a:lnTo>
                    <a:pt x="6877862" y="1004404"/>
                  </a:lnTo>
                  <a:lnTo>
                    <a:pt x="6877862" y="41859"/>
                  </a:lnTo>
                  <a:lnTo>
                    <a:pt x="6874553" y="25631"/>
                  </a:lnTo>
                  <a:lnTo>
                    <a:pt x="6865548" y="12319"/>
                  </a:lnTo>
                  <a:lnTo>
                    <a:pt x="6852236" y="3311"/>
                  </a:lnTo>
                  <a:lnTo>
                    <a:pt x="6836003" y="0"/>
                  </a:lnTo>
                  <a:close/>
                </a:path>
              </a:pathLst>
            </a:custGeom>
            <a:solidFill>
              <a:srgbClr val="10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42542" y="3817734"/>
              <a:ext cx="6859270" cy="1027430"/>
            </a:xfrm>
            <a:custGeom>
              <a:avLst/>
              <a:gdLst/>
              <a:ahLst/>
              <a:cxnLst/>
              <a:rect l="l" t="t" r="r" b="b"/>
              <a:pathLst>
                <a:path w="6859270" h="1027429">
                  <a:moveTo>
                    <a:pt x="3429368" y="513613"/>
                  </a:moveTo>
                  <a:lnTo>
                    <a:pt x="0" y="513613"/>
                  </a:lnTo>
                  <a:lnTo>
                    <a:pt x="0" y="1027214"/>
                  </a:lnTo>
                  <a:lnTo>
                    <a:pt x="3429368" y="1027214"/>
                  </a:lnTo>
                  <a:lnTo>
                    <a:pt x="3429368" y="513613"/>
                  </a:lnTo>
                  <a:close/>
                </a:path>
                <a:path w="6859270" h="1027429">
                  <a:moveTo>
                    <a:pt x="3429368" y="41859"/>
                  </a:moveTo>
                  <a:lnTo>
                    <a:pt x="3426066" y="25641"/>
                  </a:lnTo>
                  <a:lnTo>
                    <a:pt x="3417049" y="12319"/>
                  </a:lnTo>
                  <a:lnTo>
                    <a:pt x="3403739" y="3314"/>
                  </a:lnTo>
                  <a:lnTo>
                    <a:pt x="3387509" y="0"/>
                  </a:lnTo>
                  <a:lnTo>
                    <a:pt x="41871" y="0"/>
                  </a:lnTo>
                  <a:lnTo>
                    <a:pt x="25641" y="3314"/>
                  </a:lnTo>
                  <a:lnTo>
                    <a:pt x="12319" y="12319"/>
                  </a:lnTo>
                  <a:lnTo>
                    <a:pt x="3314" y="25641"/>
                  </a:lnTo>
                  <a:lnTo>
                    <a:pt x="0" y="41859"/>
                  </a:lnTo>
                  <a:lnTo>
                    <a:pt x="0" y="471741"/>
                  </a:lnTo>
                  <a:lnTo>
                    <a:pt x="3314" y="487972"/>
                  </a:lnTo>
                  <a:lnTo>
                    <a:pt x="12319" y="501281"/>
                  </a:lnTo>
                  <a:lnTo>
                    <a:pt x="25641" y="510298"/>
                  </a:lnTo>
                  <a:lnTo>
                    <a:pt x="41871" y="513600"/>
                  </a:lnTo>
                  <a:lnTo>
                    <a:pt x="3387509" y="513600"/>
                  </a:lnTo>
                  <a:lnTo>
                    <a:pt x="3403739" y="510298"/>
                  </a:lnTo>
                  <a:lnTo>
                    <a:pt x="3417049" y="501281"/>
                  </a:lnTo>
                  <a:lnTo>
                    <a:pt x="3426066" y="487972"/>
                  </a:lnTo>
                  <a:lnTo>
                    <a:pt x="3429368" y="471741"/>
                  </a:lnTo>
                  <a:lnTo>
                    <a:pt x="3429368" y="41859"/>
                  </a:lnTo>
                  <a:close/>
                </a:path>
                <a:path w="6859270" h="1027429">
                  <a:moveTo>
                    <a:pt x="6858825" y="513613"/>
                  </a:moveTo>
                  <a:lnTo>
                    <a:pt x="3429381" y="513613"/>
                  </a:lnTo>
                  <a:lnTo>
                    <a:pt x="3429381" y="1027214"/>
                  </a:lnTo>
                  <a:lnTo>
                    <a:pt x="6858825" y="1027214"/>
                  </a:lnTo>
                  <a:lnTo>
                    <a:pt x="6858825" y="513613"/>
                  </a:lnTo>
                  <a:close/>
                </a:path>
                <a:path w="6859270" h="1027429">
                  <a:moveTo>
                    <a:pt x="6858825" y="0"/>
                  </a:moveTo>
                  <a:lnTo>
                    <a:pt x="3429381" y="0"/>
                  </a:lnTo>
                  <a:lnTo>
                    <a:pt x="3429381" y="513600"/>
                  </a:lnTo>
                  <a:lnTo>
                    <a:pt x="6858825" y="513600"/>
                  </a:lnTo>
                  <a:lnTo>
                    <a:pt x="6858825" y="0"/>
                  </a:lnTo>
                  <a:close/>
                </a:path>
              </a:pathLst>
            </a:custGeom>
            <a:solidFill>
              <a:srgbClr val="10151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1126611" y="3803446"/>
          <a:ext cx="6967220" cy="10458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6145"/>
                <a:gridCol w="3432175"/>
              </a:tblGrid>
              <a:tr h="530225"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950" spc="-20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3.9K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marL="1085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75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Customers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120650">
                    <a:lnL w="19050">
                      <a:solidFill>
                        <a:srgbClr val="002A80"/>
                      </a:solidFill>
                      <a:prstDash val="solid"/>
                    </a:lnL>
                    <a:lnR w="19050">
                      <a:solidFill>
                        <a:srgbClr val="002A80"/>
                      </a:solidFill>
                      <a:prstDash val="solid"/>
                    </a:lnR>
                    <a:lnT w="9525">
                      <a:solidFill>
                        <a:srgbClr val="002A80"/>
                      </a:solidFill>
                      <a:prstDash val="solid"/>
                    </a:lnT>
                    <a:lnB w="19050">
                      <a:solidFill>
                        <a:srgbClr val="002A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950" spc="-10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$59.76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75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Avg.</a:t>
                      </a:r>
                      <a:r>
                        <a:rPr dirty="0" sz="750" spc="-15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Purchase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120650">
                    <a:lnL w="19050">
                      <a:solidFill>
                        <a:srgbClr val="002A80"/>
                      </a:solidFill>
                      <a:prstDash val="solid"/>
                    </a:lnL>
                    <a:lnR w="19050">
                      <a:solidFill>
                        <a:srgbClr val="002A80"/>
                      </a:solidFill>
                      <a:prstDash val="solid"/>
                    </a:lnR>
                    <a:lnT w="9525">
                      <a:solidFill>
                        <a:srgbClr val="002A80"/>
                      </a:solidFill>
                      <a:prstDash val="solid"/>
                    </a:lnT>
                    <a:lnB w="19050">
                      <a:solidFill>
                        <a:srgbClr val="002A80"/>
                      </a:solidFill>
                      <a:prstDash val="solid"/>
                    </a:lnB>
                    <a:solidFill>
                      <a:srgbClr val="10151F"/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950" spc="-20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3.75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marL="1085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75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Avg.</a:t>
                      </a:r>
                      <a:r>
                        <a:rPr dirty="0" sz="750" spc="-15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Rating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103505">
                    <a:lnL w="19050">
                      <a:solidFill>
                        <a:srgbClr val="002A80"/>
                      </a:solidFill>
                      <a:prstDash val="solid"/>
                    </a:lnL>
                    <a:lnR w="19050">
                      <a:solidFill>
                        <a:srgbClr val="002A80"/>
                      </a:solidFill>
                      <a:prstDash val="solid"/>
                    </a:lnR>
                    <a:lnT w="19050">
                      <a:solidFill>
                        <a:srgbClr val="002A80"/>
                      </a:solidFill>
                      <a:prstDash val="solid"/>
                    </a:lnT>
                    <a:lnB w="9525">
                      <a:solidFill>
                        <a:srgbClr val="002A80"/>
                      </a:solidFill>
                      <a:prstDash val="solid"/>
                    </a:lnB>
                    <a:solidFill>
                      <a:srgbClr val="10151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950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27%</a:t>
                      </a:r>
                      <a:r>
                        <a:rPr dirty="0" sz="950" spc="-5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950" spc="-5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25" b="1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73%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75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Subscribers</a:t>
                      </a:r>
                      <a:r>
                        <a:rPr dirty="0" sz="75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vs.</a:t>
                      </a:r>
                      <a:r>
                        <a:rPr dirty="0" sz="750" spc="-10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5">
                          <a:solidFill>
                            <a:srgbClr val="EBECEF"/>
                          </a:solidFill>
                          <a:latin typeface="Arial"/>
                          <a:cs typeface="Arial"/>
                        </a:rPr>
                        <a:t>Non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103505">
                    <a:lnL w="19050">
                      <a:solidFill>
                        <a:srgbClr val="002A80"/>
                      </a:solidFill>
                      <a:prstDash val="solid"/>
                    </a:lnL>
                    <a:lnR w="19050">
                      <a:solidFill>
                        <a:srgbClr val="002A80"/>
                      </a:solidFill>
                      <a:prstDash val="solid"/>
                    </a:lnR>
                    <a:lnT w="19050">
                      <a:solidFill>
                        <a:srgbClr val="002A80"/>
                      </a:solidFill>
                      <a:prstDash val="solid"/>
                    </a:lnT>
                    <a:lnB w="9525">
                      <a:solidFill>
                        <a:srgbClr val="002A80"/>
                      </a:solidFill>
                      <a:prstDash val="solid"/>
                    </a:lnB>
                    <a:solidFill>
                      <a:srgbClr val="1015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3419" y="1391983"/>
            <a:ext cx="4796790" cy="444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Business</a:t>
            </a:r>
            <a:r>
              <a:rPr dirty="0" spc="-20"/>
              <a:t> </a:t>
            </a:r>
            <a:r>
              <a:rPr dirty="0" spc="-10"/>
              <a:t>Recommendations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119" y="2118194"/>
            <a:ext cx="354360" cy="35435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0556" y="2118194"/>
            <a:ext cx="354360" cy="35435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6119" y="3085579"/>
            <a:ext cx="354360" cy="35435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014957" y="2124722"/>
            <a:ext cx="3387725" cy="1654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EBECEF"/>
                </a:solidFill>
                <a:latin typeface="Arial"/>
                <a:cs typeface="Arial"/>
              </a:rPr>
              <a:t>Boost</a:t>
            </a:r>
            <a:r>
              <a:rPr dirty="0" sz="1350" spc="-3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EBECEF"/>
                </a:solidFill>
                <a:latin typeface="Arial"/>
                <a:cs typeface="Arial"/>
              </a:rPr>
              <a:t>Subscriptions</a:t>
            </a:r>
            <a:endParaRPr sz="1350">
              <a:latin typeface="Arial"/>
              <a:cs typeface="Arial"/>
            </a:endParaRPr>
          </a:p>
          <a:p>
            <a:pPr marL="12700" marR="175895">
              <a:lnSpc>
                <a:spcPct val="109800"/>
              </a:lnSpc>
              <a:spcBef>
                <a:spcPts val="690"/>
              </a:spcBef>
            </a:pP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Promote</a:t>
            </a:r>
            <a:r>
              <a:rPr dirty="0" sz="110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exclusive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benefits</a:t>
            </a:r>
            <a:r>
              <a:rPr dirty="0" sz="110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to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convert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the</a:t>
            </a:r>
            <a:r>
              <a:rPr dirty="0" sz="110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73%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non-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subscriber</a:t>
            </a:r>
            <a:r>
              <a:rPr dirty="0" sz="110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base.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b="1">
                <a:solidFill>
                  <a:srgbClr val="EBECEF"/>
                </a:solidFill>
                <a:latin typeface="Arial"/>
                <a:cs typeface="Arial"/>
              </a:rPr>
              <a:t>Review</a:t>
            </a:r>
            <a:r>
              <a:rPr dirty="0" sz="1350" spc="-3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EBECEF"/>
                </a:solidFill>
                <a:latin typeface="Arial"/>
                <a:cs typeface="Arial"/>
              </a:rPr>
              <a:t>Discount</a:t>
            </a:r>
            <a:r>
              <a:rPr dirty="0" sz="1350" spc="-3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EBECEF"/>
                </a:solidFill>
                <a:latin typeface="Arial"/>
                <a:cs typeface="Arial"/>
              </a:rPr>
              <a:t>Policy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09800"/>
              </a:lnSpc>
              <a:spcBef>
                <a:spcPts val="690"/>
              </a:spcBef>
            </a:pP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Balance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sales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boosts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with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margin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control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—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especially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for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Hat,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Sneakers,</a:t>
            </a:r>
            <a:r>
              <a:rPr dirty="0" sz="110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and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Coat.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60556" y="3085579"/>
            <a:ext cx="354360" cy="35435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179390" y="2124722"/>
            <a:ext cx="3425190" cy="1654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EBECEF"/>
                </a:solidFill>
                <a:latin typeface="Arial"/>
                <a:cs typeface="Arial"/>
              </a:rPr>
              <a:t>Loyalty</a:t>
            </a:r>
            <a:r>
              <a:rPr dirty="0" sz="1350" spc="-3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EBECEF"/>
                </a:solidFill>
                <a:latin typeface="Arial"/>
                <a:cs typeface="Arial"/>
              </a:rPr>
              <a:t>Programs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09800"/>
              </a:lnSpc>
              <a:spcBef>
                <a:spcPts val="690"/>
              </a:spcBef>
            </a:pP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Reward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repeat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buyers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to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accelerate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movement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into</a:t>
            </a:r>
            <a:r>
              <a:rPr dirty="0" sz="110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BECEF"/>
                </a:solidFill>
                <a:latin typeface="Arial"/>
                <a:cs typeface="Arial"/>
              </a:rPr>
              <a:t>the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Loyal</a:t>
            </a:r>
            <a:r>
              <a:rPr dirty="0" sz="1100" spc="-5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segment.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b="1">
                <a:solidFill>
                  <a:srgbClr val="EBECEF"/>
                </a:solidFill>
                <a:latin typeface="Arial"/>
                <a:cs typeface="Arial"/>
              </a:rPr>
              <a:t>Targeted</a:t>
            </a:r>
            <a:r>
              <a:rPr dirty="0" sz="1350" spc="-3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EBECEF"/>
                </a:solidFill>
                <a:latin typeface="Arial"/>
                <a:cs typeface="Arial"/>
              </a:rPr>
              <a:t>Marketing</a:t>
            </a:r>
            <a:endParaRPr sz="1350">
              <a:latin typeface="Arial"/>
              <a:cs typeface="Arial"/>
            </a:endParaRPr>
          </a:p>
          <a:p>
            <a:pPr marL="12700" marR="259079">
              <a:lnSpc>
                <a:spcPct val="109800"/>
              </a:lnSpc>
              <a:spcBef>
                <a:spcPts val="690"/>
              </a:spcBef>
            </a:pP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Focus</a:t>
            </a:r>
            <a:r>
              <a:rPr dirty="0" sz="1100" spc="-4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on</a:t>
            </a:r>
            <a:r>
              <a:rPr dirty="0" sz="1100" spc="-3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high-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revenue</a:t>
            </a:r>
            <a:r>
              <a:rPr dirty="0" sz="1100" spc="-4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Young</a:t>
            </a:r>
            <a:r>
              <a:rPr dirty="0" sz="1100" spc="-3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Adults</a:t>
            </a:r>
            <a:r>
              <a:rPr dirty="0" sz="1100" spc="-4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and</a:t>
            </a:r>
            <a:r>
              <a:rPr dirty="0" sz="1100" spc="-3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express- shipping</a:t>
            </a:r>
            <a:r>
              <a:rPr dirty="0" sz="1100" spc="-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users;</a:t>
            </a:r>
            <a:r>
              <a:rPr dirty="0" sz="1100" spc="-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highlight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top-</a:t>
            </a:r>
            <a:r>
              <a:rPr dirty="0" sz="1100">
                <a:solidFill>
                  <a:srgbClr val="EBECEF"/>
                </a:solidFill>
                <a:latin typeface="Arial"/>
                <a:cs typeface="Arial"/>
              </a:rPr>
              <a:t>rated</a:t>
            </a:r>
            <a:r>
              <a:rPr dirty="0" sz="1100" spc="-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BECEF"/>
                </a:solidFill>
                <a:latin typeface="Arial"/>
                <a:cs typeface="Arial"/>
              </a:rPr>
              <a:t>products.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2026-05-13T11:01:37Z</dcterms:created>
  <dcterms:modified xsi:type="dcterms:W3CDTF">2026-05-13T11:01:37Z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2026-05-13T00:00:00Z</vt:filetime>
  </property>
  <property fmtid="{D5CDD505-2E9C-101B-9397-08002B2CF9AE}" pid="3" name="LastSaved">
    <vt:filetime>2026-05-13T00:00:00Z</vt:filetime>
  </property>
  <property fmtid="{D5CDD505-2E9C-101B-9397-08002B2CF9AE}" pid="4" name="Producer">
    <vt:lpwstr>3-Heights(TM) PDF Security Shell 4.8.25.2 (http://www.pdf-tools.com)</vt:lpwstr>
  </property>
</Properties>
</file>